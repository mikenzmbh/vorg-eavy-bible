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32f07687e94a62" /><Relationship Type="http://schemas.openxmlformats.org/officeDocument/2006/relationships/extended-properties" Target="/docProps/app.xml" Id="R785dc45cbf454470" /><Relationship Type="http://schemas.openxmlformats.org/officeDocument/2006/relationships/officeDocument" Target="/ppt/presentation.xml" Id="R8a051c1c71f140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96fff6135b4e57"/>
  </p:sldMasterIdLst>
  <p:notesMasterIdLst>
    <p:notesMasterId xmlns:r="http://schemas.openxmlformats.org/officeDocument/2006/relationships" r:id="R16483f98ab9a46f0"/>
  </p:notesMasterIdLst>
  <p:sldIdLst>
    <p:sldId xmlns:r="http://schemas.openxmlformats.org/officeDocument/2006/relationships" id="256" r:id="Re64fef7da71e47fb"/>
    <p:sldId xmlns:r="http://schemas.openxmlformats.org/officeDocument/2006/relationships" id="257" r:id="Rdb95a1035df344f8"/>
    <p:sldId xmlns:r="http://schemas.openxmlformats.org/officeDocument/2006/relationships" id="258" r:id="Re0d347314a974f36"/>
    <p:sldId xmlns:r="http://schemas.openxmlformats.org/officeDocument/2006/relationships" id="259" r:id="R11d9b2abe32a4f59"/>
    <p:sldId xmlns:r="http://schemas.openxmlformats.org/officeDocument/2006/relationships" id="260" r:id="R5a700145dba84dc7"/>
    <p:sldId xmlns:r="http://schemas.openxmlformats.org/officeDocument/2006/relationships" id="261" r:id="R0c03df24a2984135"/>
    <p:sldId xmlns:r="http://schemas.openxmlformats.org/officeDocument/2006/relationships" id="262" r:id="Rdba519272af34bf0"/>
    <p:sldId xmlns:r="http://schemas.openxmlformats.org/officeDocument/2006/relationships" id="263" r:id="Ra30d0d5985e04376"/>
    <p:sldId xmlns:r="http://schemas.openxmlformats.org/officeDocument/2006/relationships" id="264" r:id="Rd91968f5c942428e"/>
    <p:sldId xmlns:r="http://schemas.openxmlformats.org/officeDocument/2006/relationships" id="265" r:id="R231ae693ff904af5"/>
    <p:sldId xmlns:r="http://schemas.openxmlformats.org/officeDocument/2006/relationships" id="266" r:id="R059191301a6046a5"/>
    <p:sldId xmlns:r="http://schemas.openxmlformats.org/officeDocument/2006/relationships" id="267" r:id="R2ab8a79d23774f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09489933fc4b22" /><Relationship Type="http://schemas.openxmlformats.org/officeDocument/2006/relationships/slideMaster" Target="/ppt/slideMasters/slideMaster1.xml" Id="Re696fff6135b4e57" /><Relationship Type="http://schemas.openxmlformats.org/officeDocument/2006/relationships/notesMaster" Target="/ppt/notesMasters/notesMaster1.xml" Id="R16483f98ab9a46f0" /><Relationship Type="http://schemas.openxmlformats.org/officeDocument/2006/relationships/presProps" Target="/ppt/presProps.xml" Id="R1c552ed5efe14190" /><Relationship Type="http://schemas.openxmlformats.org/officeDocument/2006/relationships/tableStyles" Target="/ppt/tableStyles.xml" Id="R989824d67bfa4e1b" /><Relationship Type="http://schemas.openxmlformats.org/officeDocument/2006/relationships/slide" Target="/ppt/slides/slide1.xml" Id="Re64fef7da71e47fb" /><Relationship Type="http://schemas.openxmlformats.org/officeDocument/2006/relationships/slide" Target="/ppt/slides/slide2.xml" Id="Rdb95a1035df344f8" /><Relationship Type="http://schemas.openxmlformats.org/officeDocument/2006/relationships/slide" Target="/ppt/slides/slide3.xml" Id="Re0d347314a974f36" /><Relationship Type="http://schemas.openxmlformats.org/officeDocument/2006/relationships/slide" Target="/ppt/slides/slide4.xml" Id="R11d9b2abe32a4f59" /><Relationship Type="http://schemas.openxmlformats.org/officeDocument/2006/relationships/slide" Target="/ppt/slides/slide5.xml" Id="R5a700145dba84dc7" /><Relationship Type="http://schemas.openxmlformats.org/officeDocument/2006/relationships/slide" Target="/ppt/slides/slide6.xml" Id="R0c03df24a2984135" /><Relationship Type="http://schemas.openxmlformats.org/officeDocument/2006/relationships/slide" Target="/ppt/slides/slide7.xml" Id="Rdba519272af34bf0" /><Relationship Type="http://schemas.openxmlformats.org/officeDocument/2006/relationships/slide" Target="/ppt/slides/slide8.xml" Id="Ra30d0d5985e04376" /><Relationship Type="http://schemas.openxmlformats.org/officeDocument/2006/relationships/slide" Target="/ppt/slides/slide9.xml" Id="Rd91968f5c942428e" /><Relationship Type="http://schemas.openxmlformats.org/officeDocument/2006/relationships/slide" Target="/ppt/slides/slide10.xml" Id="R231ae693ff904af5" /><Relationship Type="http://schemas.openxmlformats.org/officeDocument/2006/relationships/slide" Target="/ppt/slides/slide11.xml" Id="R059191301a6046a5" /><Relationship Type="http://schemas.openxmlformats.org/officeDocument/2006/relationships/slide" Target="/ppt/slides/slide12.xml" Id="R2ab8a79d23774f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e43ffb90244f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0411efcf3141f9" /><Relationship Type="http://schemas.openxmlformats.org/officeDocument/2006/relationships/notesMaster" Target="/ppt/notesMasters/notesMaster1.xml" Id="Re7d74c3244ee42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e18328fb7b4304" /><Relationship Type="http://schemas.openxmlformats.org/officeDocument/2006/relationships/notesMaster" Target="/ppt/notesMasters/notesMaster1.xml" Id="Recf300defef04b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11218989e84736" /><Relationship Type="http://schemas.openxmlformats.org/officeDocument/2006/relationships/notesMaster" Target="/ppt/notesMasters/notesMaster1.xml" Id="R5d9e3cef6b3e40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b4c51859dc4360" /><Relationship Type="http://schemas.openxmlformats.org/officeDocument/2006/relationships/notesMaster" Target="/ppt/notesMasters/notesMaster1.xml" Id="Rdb9b78cdc3f345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0c79f65a454eee" /><Relationship Type="http://schemas.openxmlformats.org/officeDocument/2006/relationships/notesMaster" Target="/ppt/notesMasters/notesMaster1.xml" Id="Rca11ff9b4cac48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cdc4c1cee94178" /><Relationship Type="http://schemas.openxmlformats.org/officeDocument/2006/relationships/notesMaster" Target="/ppt/notesMasters/notesMaster1.xml" Id="R583e5369c0b146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bb05021b8945fd" /><Relationship Type="http://schemas.openxmlformats.org/officeDocument/2006/relationships/notesMaster" Target="/ppt/notesMasters/notesMaster1.xml" Id="R18a0778500dc45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6a1036563c4522" /><Relationship Type="http://schemas.openxmlformats.org/officeDocument/2006/relationships/notesMaster" Target="/ppt/notesMasters/notesMaster1.xml" Id="R282450a51a1742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e996f4cd4d48b9" /><Relationship Type="http://schemas.openxmlformats.org/officeDocument/2006/relationships/notesMaster" Target="/ppt/notesMasters/notesMaster1.xml" Id="Rb52b12aaa9894e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88ea4e14cf4aa4" /><Relationship Type="http://schemas.openxmlformats.org/officeDocument/2006/relationships/notesMaster" Target="/ppt/notesMasters/notesMaster1.xml" Id="R6a6f0e98803746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fc574ebac44093" /><Relationship Type="http://schemas.openxmlformats.org/officeDocument/2006/relationships/notesMaster" Target="/ppt/notesMasters/notesMaster1.xml" Id="R5a8f35f945e146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6ffdb852564936" /><Relationship Type="http://schemas.openxmlformats.org/officeDocument/2006/relationships/notesMaster" Target="/ppt/notesMasters/notesMaster1.xml" Id="Rc700d04cf7924f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decision, then state that this is a forecast and not launch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C:/Users/mbaho/OneDrive/Documents/vorg-eavy-bible/research/market-positioning/forecast-report-2026-08-22.md</a:t>
            </a:r>
          </a:p>
          <a:p xmlns:a="http://schemas.openxmlformats.org/drawingml/2006/main">
            <a:r>
              <a:t>- C:/Users/mbaho/OneDrive/Documents/vorg-eavy-bible/launch/assets/fall-drop-launch-report/campaign-burgundy.jpg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overstate Brooklyn. The score is low because the evidence is broad, not metro-specific.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C:/Users/mbaho/OneDrive/Documents/vorg-eavy-bible/research/market-positioning/forecast-report-2026-08-22.md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bands before the rank. The engine is intentionally conservative after source-quality corrections.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C:/Users/mbaho/OneDrive/Documents/vorg-eavy-bible/research/market-positioning/forecast-report-2026-08-22.md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review layer: explain that v1.1 reduces precision and strengthens reversibility.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C:/Users/mbaho/OneDrive/Documents/vorg-eavy-bible/site/src/market-positioning-prediction.ts</a:t>
            </a:r>
          </a:p>
          <a:p xmlns:a="http://schemas.openxmlformats.org/drawingml/2006/main">
            <a:r>
              <a:t>- C:/Users/mbaho/OneDrive/Documents/vorg-eavy-bible/site/src/strategy-generator.ts</a:t>
            </a:r>
          </a:p>
          <a:p xmlns:a="http://schemas.openxmlformats.org/drawingml/2006/main">
            <a:r>
              <a:t>- C:/Users/mbaho/OneDrive/Documents/vorg-eavy-bible/site/tests/market-positioning-prediction.test.mjs</a:t>
            </a:r>
          </a:p>
          <a:p xmlns:a="http://schemas.openxmlformats.org/drawingml/2006/main">
            <a:r>
              <a:t>- C:/Users/mbaho/OneDrive/Documents/vorg-eavy-bible/site/tests/strategy-generator.test.mjs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winner is not two separate campaigns. It is one operating synthesis.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C:/Users/mbaho/OneDrive/Documents/vorg-eavy-bible/research/market-positioning/generated-strategy-plan-2026-08-22.md</a:t>
            </a:r>
          </a:p>
          <a:p xmlns:a="http://schemas.openxmlformats.org/drawingml/2006/main">
            <a:r>
              <a:t>- C:/Users/mbaho/OneDrive/Documents/vorg-eavy-bible/launch/assets/fall-drop-launch-report/campaign-burgundy.jpg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concept/reference assets. Sample truth and vendor evidence still control manufacturing readiness.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C:/Users/mbaho/OneDrive/Documents/vorg-eavy-bible/docs/MASTER_BRIEF.md</a:t>
            </a:r>
          </a:p>
          <a:p xmlns:a="http://schemas.openxmlformats.org/drawingml/2006/main">
            <a:r>
              <a:t>- C:/Users/mbaho/OneDrive/Documents/vorg-eavy-bible/launch/assets/fall-drop-launch-report/jacket-black-front.jpg</a:t>
            </a:r>
          </a:p>
          <a:p xmlns:a="http://schemas.openxmlformats.org/drawingml/2006/main">
            <a:r>
              <a:t>- C:/Users/mbaho/OneDrive/Documents/vorg-eavy-bible/launch/assets/fall-drop-launch-report/denim-concept.jpg</a:t>
            </a:r>
          </a:p>
          <a:p xmlns:a="http://schemas.openxmlformats.org/drawingml/2006/main">
            <a:r>
              <a:t>- C:/Users/mbaho/OneDrive/Documents/vorg-eavy-bible/launch/assets/fall-drop-launch-report/top-black.jpg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Creator disclosure must be clear, conspicuous and inside video content when the content is video. Never script unsupported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C:/Users/mbaho/OneDrive/Documents/vorg-eavy-bible/research/market-positioning/generated-strategy-plan-2026-08-22.md</a:t>
            </a:r>
          </a:p>
          <a:p xmlns:a="http://schemas.openxmlformats.org/drawingml/2006/main">
            <a:r>
              <a:t>- https://www.ftc.gov/business-guidance/resources/disclosures-101-social-media-influencers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hard stops, not a legal checklist substitute. Obtain professional advice where indicated.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C:/Users/mbaho/OneDrive/Documents/vorg-eavy-bible/research/market-positioning/forecast-report-2026-08-22.md</a:t>
            </a:r>
          </a:p>
          <a:p xmlns:a="http://schemas.openxmlformats.org/drawingml/2006/main">
            <a:r>
              <a:t>- https://help.shopify.com/en/manual/international/duties-and-import-taxes</a:t>
            </a:r>
          </a:p>
          <a:p xmlns:a="http://schemas.openxmlformats.org/drawingml/2006/main">
            <a:r>
              <a:t>- https://www.ftc.gov/business-guidance/resources/disclosures-101-social-media-influencers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Shopify’s current duties guidance requires complete product data such as HS codes and origin. Get actual carrier and 3PL quotes before choosing.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https://help.shopify.com/en/manual/international/duties-and-import-taxes</a:t>
            </a:r>
          </a:p>
          <a:p xmlns:a="http://schemas.openxmlformats.org/drawingml/2006/main">
            <a:r>
              <a:t>- C:/Users/mbaho/OneDrive/Documents/vorg-eavy-bible/research/market-positioning/forecast-report-2026-08-22.md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generated plan has nine waves; this slide compresses them into three founder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C:/Users/mbaho/OneDrive/Documents/vorg-eavy-bible/research/market-positioning/generated-strategy-plan-2026-08-22.md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engine is designed to preserve original uncertainty and accept negative outcomes, not just wins.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C:/Users/mbaho/OneDrive/Documents/vorg-eavy-bible/site/src/market-positioning-prediction.ts</a:t>
            </a:r>
          </a:p>
          <a:p xmlns:a="http://schemas.openxmlformats.org/drawingml/2006/main">
            <a:r>
              <a:t>- C:/Users/mbaho/OneDrive/Documents/vorg-eavy-bible/research/market-positioning/forecast-report-2026-08-22.md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the operating command and the evidence gates. No spend has been authorized by this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C:/Users/mbaho/OneDrive/Documents/vorg-eavy-bible/research/market-positioning/forecast-report-2026-08-22.md</a:t>
            </a:r>
          </a:p>
          <a:p xmlns:a="http://schemas.openxmlformats.org/drawingml/2006/main">
            <a:r>
              <a:t>- C:/Users/mbaho/OneDrive/Documents/vorg-eavy-bible/research/market-positioning/generated-strategy-plan-2026-08-22.md</a:t>
            </a:r>
          </a:p>
          <a:p xmlns:a="http://schemas.openxmlformats.org/drawingml/2006/main">
            <a:r>
              <a:t>- C:/Users/mbaho/OneDrive/Documents/vorg-eavy-bible/launch/assets/fall-drop-launch-report/jacket-black-front.jpg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9f1dbb419249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faeec3686b44fe" /><Relationship Type="http://schemas.openxmlformats.org/officeDocument/2006/relationships/slideLayout" Target="/ppt/slideLayouts/slideLayout1.xml" Id="R0345f77a0d8e40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45f77a0d8e40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ad8c36e7a46c5" /><Relationship Type="http://schemas.openxmlformats.org/officeDocument/2006/relationships/image" Target="/ppt/media/image.jpeg" Id="R8f4246a0add244a1" /><Relationship Type="http://schemas.openxmlformats.org/officeDocument/2006/relationships/notesSlide" Target="/ppt/notesSlides/notesSlide1.xml" Id="R65d25adcb03c49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ee7cb5e8c495a" /><Relationship Type="http://schemas.openxmlformats.org/officeDocument/2006/relationships/notesSlide" Target="/ppt/notesSlides/notesSlide2.xml" Id="R53805495f0b042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97d8fc06d4c6a" /><Relationship Type="http://schemas.openxmlformats.org/officeDocument/2006/relationships/chart" Target="/ppt/slides/charts/chart1.xml" Id="R721ca1d638cd4031" /><Relationship Type="http://schemas.openxmlformats.org/officeDocument/2006/relationships/notesSlide" Target="/ppt/notesSlides/notesSlide3.xml" Id="R04eb97b33cc940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7905770f04352" /><Relationship Type="http://schemas.openxmlformats.org/officeDocument/2006/relationships/notesSlide" Target="/ppt/notesSlides/notesSlide4.xml" Id="R485f1c2c09f042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7c3f52ac348a1" /><Relationship Type="http://schemas.openxmlformats.org/officeDocument/2006/relationships/image" Target="/ppt/media/image2.jpeg" Id="Rfdde70f9af034c8f" /><Relationship Type="http://schemas.openxmlformats.org/officeDocument/2006/relationships/notesSlide" Target="/ppt/notesSlides/notesSlide5.xml" Id="R92539168ed0f40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bbeaf790444b6" /><Relationship Type="http://schemas.openxmlformats.org/officeDocument/2006/relationships/image" Target="/ppt/media/image3.jpeg" Id="Rfafbeb4334d54b87" /><Relationship Type="http://schemas.openxmlformats.org/officeDocument/2006/relationships/image" Target="/ppt/media/image4.jpeg" Id="R70ec8c6ba01b4d7a" /><Relationship Type="http://schemas.openxmlformats.org/officeDocument/2006/relationships/image" Target="/ppt/media/image5.jpeg" Id="R7c63bb39de9d4629" /><Relationship Type="http://schemas.openxmlformats.org/officeDocument/2006/relationships/notesSlide" Target="/ppt/notesSlides/notesSlide6.xml" Id="R0250f627755f49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3bcb725bd4599" /><Relationship Type="http://schemas.openxmlformats.org/officeDocument/2006/relationships/notesSlide" Target="/ppt/notesSlides/notesSlide7.xml" Id="R744b9d7fcf5d4e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bc97d766a4dea" /><Relationship Type="http://schemas.openxmlformats.org/officeDocument/2006/relationships/notesSlide" Target="/ppt/notesSlides/notesSlide8.xml" Id="R7bd82ce055d14c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7395c7ab34c1a" /><Relationship Type="http://schemas.openxmlformats.org/officeDocument/2006/relationships/notesSlide" Target="/ppt/notesSlides/notesSlide9.xml" Id="R495bdabe585d4b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c77117ae44405" /><Relationship Type="http://schemas.openxmlformats.org/officeDocument/2006/relationships/notesSlide" Target="/ppt/notesSlides/notesSlide10.xml" Id="R5f9631819d9445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30811cee744f9" /><Relationship Type="http://schemas.openxmlformats.org/officeDocument/2006/relationships/notesSlide" Target="/ppt/notesSlides/notesSlide11.xml" Id="Rb7b7253c4a7c4a5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95f5d4a834e3b" /><Relationship Type="http://schemas.openxmlformats.org/officeDocument/2006/relationships/image" Target="/ppt/media/image6.jpeg" Id="R88c9d88194e74faa" /><Relationship Type="http://schemas.openxmlformats.org/officeDocument/2006/relationships/notesSlide" Target="/ppt/notesSlides/notesSlide12.xml" Id="R5e2ac888d8b4482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Forecast score</c:v>
          </c:tx>
          <c:spPr>
            <a:solidFill xmlns:a="http://schemas.openxmlformats.org/drawingml/2006/main">
              <a:srgbClr val="6E102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7FF2E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34ED8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34ED8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34ED8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8D2C8"/>
              </a:solidFill>
            </c:spPr>
          </c:dPt>
          <c:cat>
            <c:strLit>
              <c:ptCount val="5"/>
              <c:pt idx="0">
                <c:v>BROOKLYN</c:v>
              </c:pt>
              <c:pt idx="1">
                <c:v>CHICAGO</c:v>
              </c:pt>
              <c:pt idx="2">
                <c:v>LOS ANGELES</c:v>
              </c:pt>
              <c:pt idx="3">
                <c:v>ATLANTA</c:v>
              </c:pt>
              <c:pt idx="4">
                <c:v>MIAMI</c:v>
              </c:pt>
            </c:strLit>
          </c:cat>
          <c:val>
            <c:numLit>
              <c:formatCode>General</c:formatCode>
              <c:ptCount val="5"/>
              <c:pt idx="0">
                <c:v>19.9</c:v>
              </c:pt>
              <c:pt idx="1">
                <c:v>19.6</c:v>
              </c:pt>
              <c:pt idx="2">
                <c:v>19.5</c:v>
              </c:pt>
              <c:pt idx="3">
                <c:v>18.9</c:v>
              </c:pt>
              <c:pt idx="4">
                <c:v>18.5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A0A0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2C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B867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B867E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A0A0A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246a0add244a1"/>
          <a:srcRect xmlns:a="http://schemas.openxmlformats.org/drawingml/2006/main" l="0" t="4510" r="0" b="45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wine-block">
            <a:extLst xmlns:a="http://schemas.openxmlformats.org/drawingml/2006/main">
              <a:ext uri="{FF2B5EF4-FFF2-40B4-BE49-F238E27FC236}">
                <a16:creationId xmlns:a16="http://schemas.microsoft.com/office/drawing/2014/main" id="{3D3F666E-8B48-4DC1-ACF5-03D62994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abel-bg-forecast-only decision">
            <a:extLst xmlns:a="http://schemas.openxmlformats.org/drawingml/2006/main">
              <a:ext uri="{FF2B5EF4-FFF2-40B4-BE49-F238E27FC236}">
                <a16:creationId xmlns:a16="http://schemas.microsoft.com/office/drawing/2014/main" id="{AA74D18F-CDDE-4CD9-8460-C1C4F1F5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20002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bel-forecast-only decision">
            <a:extLst xmlns:a="http://schemas.openxmlformats.org/drawingml/2006/main">
              <a:ext uri="{FF2B5EF4-FFF2-40B4-BE49-F238E27FC236}">
                <a16:creationId xmlns:a16="http://schemas.microsoft.com/office/drawing/2014/main" id="{1A3A6923-30AB-46A8-AB68-D81A9667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19125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0A0A"/>
                </a:solidFill>
              </a:defRPr>
            </a:pPr>
            <a:r>
              <a:rPr sz="900" b="1" i="0">
                <a:solidFill>
                  <a:srgbClr val="0A0A0A"/>
                </a:solidFill>
              </a:rPr>
              <a:t>FORECAST-ONLY DECISION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2412FE6-996D-4101-8250-A9E291C3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3EDE2"/>
                </a:solidFill>
              </a:defRPr>
            </a:pPr>
            <a:r>
              <a:rPr sz="5100" b="1" i="0">
                <a:solidFill>
                  <a:srgbClr val="F3EDE2"/>
                </a:solidFill>
              </a:rPr>
              <a:t>THE FIRST</a:t>
            </a:r>
          </a:p>
          <a:p xmlns:a="http://schemas.openxmlformats.org/drawingml/2006/main">
            <a:pPr algn="l">
              <a:defRPr sz="5100" b="1" i="0">
                <a:solidFill>
                  <a:srgbClr val="F3EDE2"/>
                </a:solidFill>
              </a:defRPr>
            </a:pPr>
            <a:r>
              <a:rPr sz="5100" b="1" i="0">
                <a:solidFill>
                  <a:srgbClr val="F3EDE2"/>
                </a:solidFill>
              </a:rPr>
              <a:t>U.S. BET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605859A-FD10-48F2-ABC2-F5A77330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523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D8D2C8"/>
                </a:solidFill>
              </a:defRPr>
            </a:pPr>
            <a:r>
              <a:rPr sz="1950" b="0" i="0">
                <a:solidFill>
                  <a:srgbClr val="D8D2C8"/>
                </a:solidFill>
              </a:rPr>
              <a:t>A Brooklyn-led test — built to learn before it burns cash.</a:t>
            </a:r>
          </a:p>
        </p:txBody>
      </p:sp>
      <p:sp>
        <p:nvSpPr>
          <p:cNvPr id="7" name="rule-66-535">
            <a:extLst xmlns:a="http://schemas.openxmlformats.org/drawingml/2006/main">
              <a:ext uri="{FF2B5EF4-FFF2-40B4-BE49-F238E27FC236}">
                <a16:creationId xmlns:a16="http://schemas.microsoft.com/office/drawing/2014/main" id="{8208A98C-CDD1-4D09-9227-B87E460A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meta">
            <a:extLst xmlns:a="http://schemas.openxmlformats.org/drawingml/2006/main">
              <a:ext uri="{FF2B5EF4-FFF2-40B4-BE49-F238E27FC236}">
                <a16:creationId xmlns:a16="http://schemas.microsoft.com/office/drawing/2014/main" id="{3F011642-F28B-49CD-A357-BF2EC85F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816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3EDE2"/>
                </a:solidFill>
              </a:defRPr>
            </a:pPr>
            <a:r>
              <a:rPr sz="900" b="1" i="0">
                <a:solidFill>
                  <a:srgbClr val="F3EDE2"/>
                </a:solidFill>
              </a:rPr>
              <a:t>VORG-EAVY · WINNER STRATEGY · 22 AUG 2026</a:t>
            </a:r>
          </a:p>
        </p:txBody>
      </p:sp>
      <p:sp>
        <p:nvSpPr>
          <p:cNvPr id="9" name="cover-truth">
            <a:extLst xmlns:a="http://schemas.openxmlformats.org/drawingml/2006/main">
              <a:ext uri="{FF2B5EF4-FFF2-40B4-BE49-F238E27FC236}">
                <a16:creationId xmlns:a16="http://schemas.microsoft.com/office/drawing/2014/main" id="{A2764778-6CD5-4E75-9CD6-4E611106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8B867E"/>
                </a:solidFill>
              </a:defRPr>
            </a:pPr>
            <a:r>
              <a:rPr sz="1200" b="0" i="0">
                <a:solidFill>
                  <a:srgbClr val="8B867E"/>
                </a:solidFill>
              </a:rPr>
              <a:t>Winner = first move. Receipts choose the next move.</a:t>
            </a:r>
          </a:p>
        </p:txBody>
      </p:sp>
    </p:spTree>
    <p:extLst>
      <p:ext uri="{BB962C8B-B14F-4D97-AF65-F5344CB8AC3E}">
        <p14:creationId xmlns:p14="http://schemas.microsoft.com/office/powerpoint/2010/main" val="1652768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D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The answer">
            <a:extLst xmlns:a="http://schemas.openxmlformats.org/drawingml/2006/main">
              <a:ext uri="{FF2B5EF4-FFF2-40B4-BE49-F238E27FC236}">
                <a16:creationId xmlns:a16="http://schemas.microsoft.com/office/drawing/2014/main" id="{C6D92552-EFEB-4086-AC88-570F2D47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E102B"/>
                </a:solidFill>
              </a:defRPr>
            </a:pPr>
            <a:r>
              <a:rPr sz="975" b="1" i="0">
                <a:solidFill>
                  <a:srgbClr val="6E102B"/>
                </a:solidFill>
              </a:rPr>
              <a:t>THE ANSWER</a:t>
            </a:r>
          </a:p>
        </p:txBody>
      </p:sp>
      <p:sp>
        <p:nvSpPr>
          <p:cNvPr id="2" name="title-Brooklyn leads.&#10;The race is still open.">
            <a:extLst xmlns:a="http://schemas.openxmlformats.org/drawingml/2006/main">
              <a:ext uri="{FF2B5EF4-FFF2-40B4-BE49-F238E27FC236}">
                <a16:creationId xmlns:a16="http://schemas.microsoft.com/office/drawing/2014/main" id="{BF2DC058-0919-4556-BBF5-AB0F9C75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A0A0A"/>
                </a:solidFill>
              </a:defRPr>
            </a:pPr>
            <a:r>
              <a:rPr sz="3600" b="1" i="0">
                <a:solidFill>
                  <a:srgbClr val="0A0A0A"/>
                </a:solidFill>
              </a:rPr>
              <a:t>Brooklyn leads.</a:t>
            </a:r>
          </a:p>
          <a:p xmlns:a="http://schemas.openxmlformats.org/drawingml/2006/main">
            <a:pPr algn="l">
              <a:defRPr sz="3600" b="1" i="0">
                <a:solidFill>
                  <a:srgbClr val="0A0A0A"/>
                </a:solidFill>
              </a:defRPr>
            </a:pPr>
            <a:r>
              <a:rPr sz="3600" b="1" i="0">
                <a:solidFill>
                  <a:srgbClr val="0A0A0A"/>
                </a:solidFill>
              </a:rPr>
              <a:t>The race is still open.</a:t>
            </a:r>
          </a:p>
        </p:txBody>
      </p:sp>
      <p:sp>
        <p:nvSpPr>
          <p:cNvPr id="3" name="subtitle-Brooklyn leads.&#10;The race is still open.">
            <a:extLst xmlns:a="http://schemas.openxmlformats.org/drawingml/2006/main">
              <a:ext uri="{FF2B5EF4-FFF2-40B4-BE49-F238E27FC236}">
                <a16:creationId xmlns:a16="http://schemas.microsoft.com/office/drawing/2014/main" id="{60766467-22D1-4689-82F7-7C02BB07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8B867E"/>
                </a:solidFill>
              </a:defRPr>
            </a:pPr>
            <a:r>
              <a:rPr sz="1500" b="0" i="0">
                <a:solidFill>
                  <a:srgbClr val="8B867E"/>
                </a:solidFill>
              </a:rPr>
              <a:t>Use Brooklyn as the operating hypothesis for the first controlled U.S. learning loop.</a:t>
            </a:r>
          </a:p>
        </p:txBody>
      </p:sp>
      <p:sp>
        <p:nvSpPr>
          <p:cNvPr id="4" name="decision-score">
            <a:extLst xmlns:a="http://schemas.openxmlformats.org/drawingml/2006/main">
              <a:ext uri="{FF2B5EF4-FFF2-40B4-BE49-F238E27FC236}">
                <a16:creationId xmlns:a16="http://schemas.microsoft.com/office/drawing/2014/main" id="{0B5ED2F3-2CF0-40B6-BFA0-DBF9EDEB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66750"/>
            <a:ext cx="3095625" cy="300037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6E1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score-number">
            <a:extLst xmlns:a="http://schemas.openxmlformats.org/drawingml/2006/main">
              <a:ext uri="{FF2B5EF4-FFF2-40B4-BE49-F238E27FC236}">
                <a16:creationId xmlns:a16="http://schemas.microsoft.com/office/drawing/2014/main" id="{087AF485-C5D7-43F4-A665-8E0CD9BE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04900"/>
            <a:ext cx="2428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100" b="1" i="0">
                <a:solidFill>
                  <a:srgbClr val="F3EDE2"/>
                </a:solidFill>
              </a:defRPr>
            </a:pPr>
            <a:r>
              <a:rPr sz="5100" b="1" i="0">
                <a:solidFill>
                  <a:srgbClr val="F3EDE2"/>
                </a:solidFill>
              </a:rPr>
              <a:t>19.9</a:t>
            </a:r>
          </a:p>
        </p:txBody>
      </p:sp>
      <p:sp>
        <p:nvSpPr>
          <p:cNvPr id="6" name="decision-score-label">
            <a:extLst xmlns:a="http://schemas.openxmlformats.org/drawingml/2006/main">
              <a:ext uri="{FF2B5EF4-FFF2-40B4-BE49-F238E27FC236}">
                <a16:creationId xmlns:a16="http://schemas.microsoft.com/office/drawing/2014/main" id="{818FB55A-92AE-4CF6-A96D-05DCE87A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383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C7FF2E"/>
                </a:solidFill>
              </a:defRPr>
            </a:pPr>
            <a:r>
              <a:rPr sz="900" b="1" i="0">
                <a:solidFill>
                  <a:srgbClr val="C7FF2E"/>
                </a:solidFill>
              </a:rPr>
              <a:t>FORECAST SCORE / 100</a:t>
            </a:r>
          </a:p>
        </p:txBody>
      </p:sp>
      <p:sp>
        <p:nvSpPr>
          <p:cNvPr id="7" name="decision-confidence">
            <a:extLst xmlns:a="http://schemas.openxmlformats.org/drawingml/2006/main">
              <a:ext uri="{FF2B5EF4-FFF2-40B4-BE49-F238E27FC236}">
                <a16:creationId xmlns:a16="http://schemas.microsoft.com/office/drawing/2014/main" id="{07A602BE-55D0-454A-8123-42A145F1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90800"/>
            <a:ext cx="242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3EDE2"/>
                </a:solidFill>
              </a:defRPr>
            </a:pPr>
            <a:r>
              <a:rPr sz="1875" b="1" i="0">
                <a:solidFill>
                  <a:srgbClr val="F3EDE2"/>
                </a:solidFill>
              </a:rPr>
              <a:t>36.3%</a:t>
            </a:r>
          </a:p>
          <a:p xmlns:a="http://schemas.openxmlformats.org/drawingml/2006/main">
            <a:pPr algn="ctr">
              <a:defRPr sz="1875" b="1" i="0">
                <a:solidFill>
                  <a:srgbClr val="F3EDE2"/>
                </a:solidFill>
              </a:defRPr>
            </a:pPr>
            <a:r>
              <a:rPr sz="1875" b="1" i="0">
                <a:solidFill>
                  <a:srgbClr val="F3EDE2"/>
                </a:solidFill>
              </a:rPr>
              <a:t>confidence</a:t>
            </a:r>
          </a:p>
        </p:txBody>
      </p:sp>
      <p:sp>
        <p:nvSpPr>
          <p:cNvPr id="8" name="rule-66-318">
            <a:extLst xmlns:a="http://schemas.openxmlformats.org/drawingml/2006/main">
              <a:ext uri="{FF2B5EF4-FFF2-40B4-BE49-F238E27FC236}">
                <a16:creationId xmlns:a16="http://schemas.microsoft.com/office/drawing/2014/main" id="{80785EA2-B063-4B2F-B097-3435B390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ecision-rule">
            <a:extLst xmlns:a="http://schemas.openxmlformats.org/drawingml/2006/main">
              <a:ext uri="{FF2B5EF4-FFF2-40B4-BE49-F238E27FC236}">
                <a16:creationId xmlns:a16="http://schemas.microsoft.com/office/drawing/2014/main" id="{7FD068D8-244C-43A4-91D5-C4021CA1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E102B"/>
                </a:solidFill>
              </a:defRPr>
            </a:pPr>
            <a:r>
              <a:rPr sz="900" b="1" i="0">
                <a:solidFill>
                  <a:srgbClr val="6E102B"/>
                </a:solidFill>
              </a:rPr>
              <a:t>THE ONE-POINT RULE</a:t>
            </a:r>
          </a:p>
        </p:txBody>
      </p:sp>
      <p:sp>
        <p:nvSpPr>
          <p:cNvPr id="10" name="decision-finalists">
            <a:extLst xmlns:a="http://schemas.openxmlformats.org/drawingml/2006/main">
              <a:ext uri="{FF2B5EF4-FFF2-40B4-BE49-F238E27FC236}">
                <a16:creationId xmlns:a16="http://schemas.microsoft.com/office/drawing/2014/main" id="{AD63C5EF-8FFB-4104-9919-E16DB428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A0A0A"/>
                </a:solidFill>
              </a:defRPr>
            </a:pPr>
            <a:r>
              <a:rPr sz="2250" b="1" i="0">
                <a:solidFill>
                  <a:srgbClr val="0A0A0A"/>
                </a:solidFill>
              </a:rPr>
              <a:t>Brooklyn · Chicago · Los Angeles · Atlanta</a:t>
            </a:r>
          </a:p>
        </p:txBody>
      </p:sp>
      <p:sp>
        <p:nvSpPr>
          <p:cNvPr id="11" name="decision-note">
            <a:extLst xmlns:a="http://schemas.openxmlformats.org/drawingml/2006/main">
              <a:ext uri="{FF2B5EF4-FFF2-40B4-BE49-F238E27FC236}">
                <a16:creationId xmlns:a16="http://schemas.microsoft.com/office/drawing/2014/main" id="{2A62285F-6AC9-47B9-BA12-E2DDD1FC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48175"/>
            <a:ext cx="685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8B867E"/>
                </a:solidFill>
              </a:defRPr>
            </a:pPr>
            <a:r>
              <a:rPr sz="1575" b="0" i="0">
                <a:solidFill>
                  <a:srgbClr val="8B867E"/>
                </a:solidFill>
              </a:rPr>
              <a:t>All four sit inside the engine’s near-tie band. Miami remains the challenger. No city earns an exclusive ‘winner’ claim yet.</a:t>
            </a:r>
          </a:p>
        </p:txBody>
      </p:sp>
      <p:sp>
        <p:nvSpPr>
          <p:cNvPr id="12" name="label-bg-lead hypothesis">
            <a:extLst xmlns:a="http://schemas.openxmlformats.org/drawingml/2006/main">
              <a:ext uri="{FF2B5EF4-FFF2-40B4-BE49-F238E27FC236}">
                <a16:creationId xmlns:a16="http://schemas.microsoft.com/office/drawing/2014/main" id="{4A8E4663-17E5-4152-BF55-E3F8E499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57850"/>
            <a:ext cx="15621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abel-lead hypothesis">
            <a:extLst xmlns:a="http://schemas.openxmlformats.org/drawingml/2006/main">
              <a:ext uri="{FF2B5EF4-FFF2-40B4-BE49-F238E27FC236}">
                <a16:creationId xmlns:a16="http://schemas.microsoft.com/office/drawing/2014/main" id="{A0DA5F34-582D-499A-B1BA-243F8B4C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24525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3EDE2"/>
                </a:solidFill>
              </a:defRPr>
            </a:pPr>
            <a:r>
              <a:rPr sz="900" b="1" i="0">
                <a:solidFill>
                  <a:srgbClr val="F3EDE2"/>
                </a:solidFill>
              </a:rPr>
              <a:t>LEAD HYPOTHESIS</a:t>
            </a:r>
          </a:p>
        </p:txBody>
      </p:sp>
      <p:sp>
        <p:nvSpPr>
          <p:cNvPr id="14" name="label-bg-no spend authority">
            <a:extLst xmlns:a="http://schemas.openxmlformats.org/drawingml/2006/main">
              <a:ext uri="{FF2B5EF4-FFF2-40B4-BE49-F238E27FC236}">
                <a16:creationId xmlns:a16="http://schemas.microsoft.com/office/drawing/2014/main" id="{861E4A61-2DCF-4E5A-9ECC-4E12E459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57850"/>
            <a:ext cx="16954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3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abel-no spend authority">
            <a:extLst xmlns:a="http://schemas.openxmlformats.org/drawingml/2006/main">
              <a:ext uri="{FF2B5EF4-FFF2-40B4-BE49-F238E27FC236}">
                <a16:creationId xmlns:a16="http://schemas.microsoft.com/office/drawing/2014/main" id="{E405B602-BBBF-4B93-BECD-346F7575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724525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3EDE2"/>
                </a:solidFill>
              </a:defRPr>
            </a:pPr>
            <a:r>
              <a:rPr sz="900" b="1" i="0">
                <a:solidFill>
                  <a:srgbClr val="F3EDE2"/>
                </a:solidFill>
              </a:rPr>
              <a:t>NO SPEND AUTHORITY</a:t>
            </a:r>
          </a:p>
        </p:txBody>
      </p:sp>
      <p:sp>
        <p:nvSpPr>
          <p:cNvPr id="16" name="footer-section-2">
            <a:extLst xmlns:a="http://schemas.openxmlformats.org/drawingml/2006/main">
              <a:ext uri="{FF2B5EF4-FFF2-40B4-BE49-F238E27FC236}">
                <a16:creationId xmlns:a16="http://schemas.microsoft.com/office/drawing/2014/main" id="{603F65D3-B6B7-40EB-9937-D00EDBAF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B867E"/>
                </a:solidFill>
              </a:defRPr>
            </a:pPr>
            <a:r>
              <a:rPr sz="750" b="1" i="0">
                <a:solidFill>
                  <a:srgbClr val="8B867E"/>
                </a:solidFill>
              </a:rPr>
              <a:t>DECISION</a:t>
            </a:r>
          </a:p>
        </p:txBody>
      </p:sp>
      <p:sp>
        <p:nvSpPr>
          <p:cNvPr id="17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DA40E037-8539-4A9F-A9A6-0DEB294E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8B867E"/>
                </a:solidFill>
              </a:defRPr>
            </a:pPr>
            <a:r>
              <a:rPr sz="750" b="1" i="0">
                <a:solidFill>
                  <a:srgbClr val="8B867E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707640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The market race">
            <a:extLst xmlns:a="http://schemas.openxmlformats.org/drawingml/2006/main">
              <a:ext uri="{FF2B5EF4-FFF2-40B4-BE49-F238E27FC236}">
                <a16:creationId xmlns:a16="http://schemas.microsoft.com/office/drawing/2014/main" id="{3889F9E3-0D39-42B5-AF6A-3116D976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E102B"/>
                </a:solidFill>
              </a:defRPr>
            </a:pPr>
            <a:r>
              <a:rPr sz="975" b="1" i="0">
                <a:solidFill>
                  <a:srgbClr val="6E102B"/>
                </a:solidFill>
              </a:rPr>
              <a:t>THE MARKET RACE</a:t>
            </a:r>
          </a:p>
        </p:txBody>
      </p:sp>
      <p:sp>
        <p:nvSpPr>
          <p:cNvPr id="2" name="title-A photo finish — not a coronation.">
            <a:extLst xmlns:a="http://schemas.openxmlformats.org/drawingml/2006/main">
              <a:ext uri="{FF2B5EF4-FFF2-40B4-BE49-F238E27FC236}">
                <a16:creationId xmlns:a16="http://schemas.microsoft.com/office/drawing/2014/main" id="{63EB43A1-8367-44F1-8F3B-F4DAF806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A0A0A"/>
                </a:solidFill>
              </a:defRPr>
            </a:pPr>
            <a:r>
              <a:rPr sz="3600" b="1" i="0">
                <a:solidFill>
                  <a:srgbClr val="0A0A0A"/>
                </a:solidFill>
              </a:rPr>
              <a:t>A photo finish — not a coronation.</a:t>
            </a:r>
          </a:p>
        </p:txBody>
      </p:sp>
      <p:sp>
        <p:nvSpPr>
          <p:cNvPr id="3" name="subtitle-A photo finish — not a coronation.">
            <a:extLst xmlns:a="http://schemas.openxmlformats.org/drawingml/2006/main">
              <a:ext uri="{FF2B5EF4-FFF2-40B4-BE49-F238E27FC236}">
                <a16:creationId xmlns:a16="http://schemas.microsoft.com/office/drawing/2014/main" id="{4AD59911-AFF9-42EF-A1D3-B2F8CDA7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8B867E"/>
                </a:solidFill>
              </a:defRPr>
            </a:pPr>
            <a:r>
              <a:rPr sz="1500" b="0" i="0">
                <a:solidFill>
                  <a:srgbClr val="8B867E"/>
                </a:solidFill>
              </a:rPr>
              <a:t>Less than two forecast points separate all five metros.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28650" y="2762250"/>
          <a:ext xmlns:a="http://schemas.openxmlformats.org/drawingml/2006/main" cx="819150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1ca1d638cd4031"/>
          </a:graphicData>
        </a:graphic>
      </p:graphicFrame>
      <p:sp>
        <p:nvSpPr>
          <p:cNvPr id="5" name="ranking-callout">
            <a:extLst xmlns:a="http://schemas.openxmlformats.org/drawingml/2006/main">
              <a:ext uri="{FF2B5EF4-FFF2-40B4-BE49-F238E27FC236}">
                <a16:creationId xmlns:a16="http://schemas.microsoft.com/office/drawing/2014/main" id="{9E92B526-1366-4960-88C4-9379444B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81300"/>
            <a:ext cx="2333625" cy="2857500"/>
          </a:xfrm>
          <a:prstGeom xmlns:a="http://schemas.openxmlformats.org/drawingml/2006/main" prst="roundRect">
            <a:avLst>
              <a:gd name="adj" fmla="val 8980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nking-big">
            <a:extLst xmlns:a="http://schemas.openxmlformats.org/drawingml/2006/main">
              <a:ext uri="{FF2B5EF4-FFF2-40B4-BE49-F238E27FC236}">
                <a16:creationId xmlns:a16="http://schemas.microsoft.com/office/drawing/2014/main" id="{585DEEAE-6570-4E4E-A4EB-0DEFFC74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05150"/>
            <a:ext cx="1762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C7FF2E"/>
                </a:solidFill>
              </a:defRPr>
            </a:pPr>
            <a:r>
              <a:rPr sz="4350" b="1" i="0">
                <a:solidFill>
                  <a:srgbClr val="C7FF2E"/>
                </a:solidFill>
              </a:rPr>
              <a:t>±7</a:t>
            </a:r>
          </a:p>
        </p:txBody>
      </p:sp>
      <p:sp>
        <p:nvSpPr>
          <p:cNvPr id="7" name="ranking-band">
            <a:extLst xmlns:a="http://schemas.openxmlformats.org/drawingml/2006/main">
              <a:ext uri="{FF2B5EF4-FFF2-40B4-BE49-F238E27FC236}">
                <a16:creationId xmlns:a16="http://schemas.microsoft.com/office/drawing/2014/main" id="{28E7D183-14F0-4ED8-B8B8-8930625A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671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EDE2"/>
                </a:solidFill>
              </a:defRPr>
            </a:pPr>
            <a:r>
              <a:rPr sz="900" b="1" i="0">
                <a:solidFill>
                  <a:srgbClr val="F3EDE2"/>
                </a:solidFill>
              </a:rPr>
              <a:t>POINT SCORE BANDS</a:t>
            </a:r>
          </a:p>
        </p:txBody>
      </p:sp>
      <p:sp>
        <p:nvSpPr>
          <p:cNvPr id="8" name="ranking-copy">
            <a:extLst xmlns:a="http://schemas.openxmlformats.org/drawingml/2006/main">
              <a:ext uri="{FF2B5EF4-FFF2-40B4-BE49-F238E27FC236}">
                <a16:creationId xmlns:a16="http://schemas.microsoft.com/office/drawing/2014/main" id="{FF4E1BD3-E821-4E0B-859E-E2D60140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00550"/>
            <a:ext cx="1857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F3EDE2"/>
                </a:solidFill>
              </a:defRPr>
            </a:pPr>
            <a:r>
              <a:rPr sz="1425" b="0" i="0">
                <a:solidFill>
                  <a:srgbClr val="F3EDE2"/>
                </a:solidFill>
              </a:rPr>
              <a:t>The uncertainty around every city is larger than the gap between them.</a:t>
            </a:r>
          </a:p>
        </p:txBody>
      </p:sp>
      <p:sp>
        <p:nvSpPr>
          <p:cNvPr id="9" name="footer-section-3">
            <a:extLst xmlns:a="http://schemas.openxmlformats.org/drawingml/2006/main">
              <a:ext uri="{FF2B5EF4-FFF2-40B4-BE49-F238E27FC236}">
                <a16:creationId xmlns:a16="http://schemas.microsoft.com/office/drawing/2014/main" id="{6323AEEF-37CB-4E0F-BD2C-A5E57A70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B867E"/>
                </a:solidFill>
              </a:defRPr>
            </a:pPr>
            <a:r>
              <a:rPr sz="750" b="1" i="0">
                <a:solidFill>
                  <a:srgbClr val="8B867E"/>
                </a:solidFill>
              </a:rPr>
              <a:t>MARKET RANKING</a:t>
            </a:r>
          </a:p>
        </p:txBody>
      </p:sp>
      <p:sp>
        <p:nvSpPr>
          <p:cNvPr id="10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429904EB-5E4B-471B-B6FA-9E01C7C9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8B867E"/>
                </a:solidFill>
              </a:defRPr>
            </a:pPr>
            <a:r>
              <a:rPr sz="750" b="1" i="0">
                <a:solidFill>
                  <a:srgbClr val="8B867E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64043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Engine audit">
            <a:extLst xmlns:a="http://schemas.openxmlformats.org/drawingml/2006/main">
              <a:ext uri="{FF2B5EF4-FFF2-40B4-BE49-F238E27FC236}">
                <a16:creationId xmlns:a16="http://schemas.microsoft.com/office/drawing/2014/main" id="{33D15B29-3324-4CA4-9650-933E7F53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7FF2E"/>
                </a:solidFill>
              </a:defRPr>
            </a:pPr>
            <a:r>
              <a:rPr sz="975" b="1" i="0">
                <a:solidFill>
                  <a:srgbClr val="C7FF2E"/>
                </a:solidFill>
              </a:rPr>
              <a:t>ENGINE AUDIT</a:t>
            </a:r>
          </a:p>
        </p:txBody>
      </p:sp>
      <p:sp>
        <p:nvSpPr>
          <p:cNvPr id="2" name="title-Four corrections changed&#10;the meaning of the result.">
            <a:extLst xmlns:a="http://schemas.openxmlformats.org/drawingml/2006/main">
              <a:ext uri="{FF2B5EF4-FFF2-40B4-BE49-F238E27FC236}">
                <a16:creationId xmlns:a16="http://schemas.microsoft.com/office/drawing/2014/main" id="{0A9E5F85-E62F-4510-9DE9-B3AAF581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3EDE2"/>
                </a:solidFill>
              </a:defRPr>
            </a:pPr>
            <a:r>
              <a:rPr sz="3600" b="1" i="0">
                <a:solidFill>
                  <a:srgbClr val="F3EDE2"/>
                </a:solidFill>
              </a:rPr>
              <a:t>Four corrections changed</a:t>
            </a:r>
          </a:p>
          <a:p xmlns:a="http://schemas.openxmlformats.org/drawingml/2006/main">
            <a:pPr algn="l">
              <a:defRPr sz="3600" b="1" i="0">
                <a:solidFill>
                  <a:srgbClr val="F3EDE2"/>
                </a:solidFill>
              </a:defRPr>
            </a:pPr>
            <a:r>
              <a:rPr sz="3600" b="1" i="0">
                <a:solidFill>
                  <a:srgbClr val="F3EDE2"/>
                </a:solidFill>
              </a:rPr>
              <a:t>the meaning of the result.</a:t>
            </a:r>
          </a:p>
        </p:txBody>
      </p:sp>
      <p:sp>
        <p:nvSpPr>
          <p:cNvPr id="3" name="subtitle-Four corrections changed&#10;the meaning of the result.">
            <a:extLst xmlns:a="http://schemas.openxmlformats.org/drawingml/2006/main">
              <a:ext uri="{FF2B5EF4-FFF2-40B4-BE49-F238E27FC236}">
                <a16:creationId xmlns:a16="http://schemas.microsoft.com/office/drawing/2014/main" id="{18903161-4CF9-4D4F-81EC-23D7BB91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8D2C8"/>
                </a:solidFill>
              </a:defRPr>
            </a:pPr>
            <a:r>
              <a:rPr sz="1500" b="0" i="0">
                <a:solidFill>
                  <a:srgbClr val="D8D2C8"/>
                </a:solidFill>
              </a:rPr>
              <a:t>The ranking survived. The certainty did not.</a:t>
            </a:r>
          </a:p>
        </p:txBody>
      </p:sp>
      <p:sp>
        <p:nvSpPr>
          <p:cNvPr id="4" name="audit-num-0">
            <a:extLst xmlns:a="http://schemas.openxmlformats.org/drawingml/2006/main">
              <a:ext uri="{FF2B5EF4-FFF2-40B4-BE49-F238E27FC236}">
                <a16:creationId xmlns:a16="http://schemas.microsoft.com/office/drawing/2014/main" id="{3B2EE3B3-679C-475E-9C72-C69BCBE5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C7FF2E"/>
                </a:solidFill>
              </a:defRPr>
            </a:pPr>
            <a:r>
              <a:rPr sz="2025" b="1" i="0">
                <a:solidFill>
                  <a:srgbClr val="C7FF2E"/>
                </a:solidFill>
              </a:rPr>
              <a:t>01</a:t>
            </a:r>
          </a:p>
        </p:txBody>
      </p:sp>
      <p:sp>
        <p:nvSpPr>
          <p:cNvPr id="5" name="audit-title-0">
            <a:extLst xmlns:a="http://schemas.openxmlformats.org/drawingml/2006/main">
              <a:ext uri="{FF2B5EF4-FFF2-40B4-BE49-F238E27FC236}">
                <a16:creationId xmlns:a16="http://schemas.microsoft.com/office/drawing/2014/main" id="{83B06389-7D41-4B06-9AB0-70ED232C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670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EDE2"/>
                </a:solidFill>
              </a:defRPr>
            </a:pPr>
            <a:r>
              <a:rPr sz="1650" b="1" i="0">
                <a:solidFill>
                  <a:srgbClr val="F3EDE2"/>
                </a:solidFill>
              </a:rPr>
              <a:t>Near ties</a:t>
            </a:r>
          </a:p>
        </p:txBody>
      </p:sp>
      <p:sp>
        <p:nvSpPr>
          <p:cNvPr id="6" name="audit-copy-0">
            <a:extLst xmlns:a="http://schemas.openxmlformats.org/drawingml/2006/main">
              <a:ext uri="{FF2B5EF4-FFF2-40B4-BE49-F238E27FC236}">
                <a16:creationId xmlns:a16="http://schemas.microsoft.com/office/drawing/2014/main" id="{5CEEF640-5FF7-4C7A-903D-143BF5AC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765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8D2C8"/>
                </a:solidFill>
              </a:defRPr>
            </a:pPr>
            <a:r>
              <a:rPr sz="1350" b="0" i="0">
                <a:solidFill>
                  <a:srgbClr val="D8D2C8"/>
                </a:solidFill>
              </a:rPr>
              <a:t>One lead + co-finalists instead of a fake single-city win.</a:t>
            </a:r>
          </a:p>
        </p:txBody>
      </p:sp>
      <p:sp>
        <p:nvSpPr>
          <p:cNvPr id="7" name="rule-150-357">
            <a:extLst xmlns:a="http://schemas.openxmlformats.org/drawingml/2006/main">
              <a:ext uri="{FF2B5EF4-FFF2-40B4-BE49-F238E27FC236}">
                <a16:creationId xmlns:a16="http://schemas.microsoft.com/office/drawing/2014/main" id="{B24C9541-4A1F-4318-B157-47AE26B9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0425"/>
            <a:ext cx="979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udit-num-1">
            <a:extLst xmlns:a="http://schemas.openxmlformats.org/drawingml/2006/main">
              <a:ext uri="{FF2B5EF4-FFF2-40B4-BE49-F238E27FC236}">
                <a16:creationId xmlns:a16="http://schemas.microsoft.com/office/drawing/2014/main" id="{766C5EB5-AF9F-49EB-814B-9E5785FA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C7FF2E"/>
                </a:solidFill>
              </a:defRPr>
            </a:pPr>
            <a:r>
              <a:rPr sz="2025" b="1" i="0">
                <a:solidFill>
                  <a:srgbClr val="C7FF2E"/>
                </a:solidFill>
              </a:rPr>
              <a:t>02</a:t>
            </a:r>
          </a:p>
        </p:txBody>
      </p:sp>
      <p:sp>
        <p:nvSpPr>
          <p:cNvPr id="9" name="audit-title-1">
            <a:extLst xmlns:a="http://schemas.openxmlformats.org/drawingml/2006/main">
              <a:ext uri="{FF2B5EF4-FFF2-40B4-BE49-F238E27FC236}">
                <a16:creationId xmlns:a16="http://schemas.microsoft.com/office/drawing/2014/main" id="{009B0917-9140-4BA7-A567-69CA70CA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290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EDE2"/>
                </a:solidFill>
              </a:defRPr>
            </a:pPr>
            <a:r>
              <a:rPr sz="1650" b="1" i="0">
                <a:solidFill>
                  <a:srgbClr val="F3EDE2"/>
                </a:solidFill>
              </a:rPr>
              <a:t>Gate scope</a:t>
            </a:r>
          </a:p>
        </p:txBody>
      </p:sp>
      <p:sp>
        <p:nvSpPr>
          <p:cNvPr id="10" name="audit-copy-1">
            <a:extLst xmlns:a="http://schemas.openxmlformats.org/drawingml/2006/main">
              <a:ext uri="{FF2B5EF4-FFF2-40B4-BE49-F238E27FC236}">
                <a16:creationId xmlns:a16="http://schemas.microsoft.com/office/drawing/2014/main" id="{43E4FD23-5324-4DAB-89CA-1C04A6C6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385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8D2C8"/>
                </a:solidFill>
              </a:defRPr>
            </a:pPr>
            <a:r>
              <a:rPr sz="1350" b="0" i="0">
                <a:solidFill>
                  <a:srgbClr val="D8D2C8"/>
                </a:solidFill>
              </a:rPr>
              <a:t>Canada-only requirements no longer freeze a U.S. launch plan.</a:t>
            </a:r>
          </a:p>
        </p:txBody>
      </p:sp>
      <p:sp>
        <p:nvSpPr>
          <p:cNvPr id="11" name="rule-150-437">
            <a:extLst xmlns:a="http://schemas.openxmlformats.org/drawingml/2006/main">
              <a:ext uri="{FF2B5EF4-FFF2-40B4-BE49-F238E27FC236}">
                <a16:creationId xmlns:a16="http://schemas.microsoft.com/office/drawing/2014/main" id="{F7EB4EB2-9ACE-4894-8C55-576237CB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62425"/>
            <a:ext cx="979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udit-num-2">
            <a:extLst xmlns:a="http://schemas.openxmlformats.org/drawingml/2006/main">
              <a:ext uri="{FF2B5EF4-FFF2-40B4-BE49-F238E27FC236}">
                <a16:creationId xmlns:a16="http://schemas.microsoft.com/office/drawing/2014/main" id="{C772225F-A2A6-41A7-985D-885E09A5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C7FF2E"/>
                </a:solidFill>
              </a:defRPr>
            </a:pPr>
            <a:r>
              <a:rPr sz="2025" b="1" i="0">
                <a:solidFill>
                  <a:srgbClr val="C7FF2E"/>
                </a:solidFill>
              </a:rPr>
              <a:t>03</a:t>
            </a:r>
          </a:p>
        </p:txBody>
      </p:sp>
      <p:sp>
        <p:nvSpPr>
          <p:cNvPr id="13" name="audit-title-2">
            <a:extLst xmlns:a="http://schemas.openxmlformats.org/drawingml/2006/main">
              <a:ext uri="{FF2B5EF4-FFF2-40B4-BE49-F238E27FC236}">
                <a16:creationId xmlns:a16="http://schemas.microsoft.com/office/drawing/2014/main" id="{FA98E568-F798-45C1-830D-498225DB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910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EDE2"/>
                </a:solidFill>
              </a:defRPr>
            </a:pPr>
            <a:r>
              <a:rPr sz="1650" b="1" i="0">
                <a:solidFill>
                  <a:srgbClr val="F3EDE2"/>
                </a:solidFill>
              </a:rPr>
              <a:t>Evidence gravity</a:t>
            </a:r>
          </a:p>
        </p:txBody>
      </p:sp>
      <p:sp>
        <p:nvSpPr>
          <p:cNvPr id="14" name="audit-copy-2">
            <a:extLst xmlns:a="http://schemas.openxmlformats.org/drawingml/2006/main">
              <a:ext uri="{FF2B5EF4-FFF2-40B4-BE49-F238E27FC236}">
                <a16:creationId xmlns:a16="http://schemas.microsoft.com/office/drawing/2014/main" id="{4999F8B3-3169-43A5-B48D-6A917EB8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005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8D2C8"/>
                </a:solidFill>
              </a:defRPr>
            </a:pPr>
            <a:r>
              <a:rPr sz="1350" b="0" i="0">
                <a:solidFill>
                  <a:srgbClr val="D8D2C8"/>
                </a:solidFill>
              </a:rPr>
              <a:t>Age, source class, duplicate URLs and inference now reduce weight.</a:t>
            </a:r>
          </a:p>
        </p:txBody>
      </p:sp>
      <p:sp>
        <p:nvSpPr>
          <p:cNvPr id="15" name="rule-150-517">
            <a:extLst xmlns:a="http://schemas.openxmlformats.org/drawingml/2006/main">
              <a:ext uri="{FF2B5EF4-FFF2-40B4-BE49-F238E27FC236}">
                <a16:creationId xmlns:a16="http://schemas.microsoft.com/office/drawing/2014/main" id="{386D5D1C-950C-4A63-AE7F-6ADA453A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24425"/>
            <a:ext cx="979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udit-num-3">
            <a:extLst xmlns:a="http://schemas.openxmlformats.org/drawingml/2006/main">
              <a:ext uri="{FF2B5EF4-FFF2-40B4-BE49-F238E27FC236}">
                <a16:creationId xmlns:a16="http://schemas.microsoft.com/office/drawing/2014/main" id="{A01DA6D9-F70B-4EBF-9C7E-5C1949DF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C7FF2E"/>
                </a:solidFill>
              </a:defRPr>
            </a:pPr>
            <a:r>
              <a:rPr sz="2025" b="1" i="0">
                <a:solidFill>
                  <a:srgbClr val="C7FF2E"/>
                </a:solidFill>
              </a:rPr>
              <a:t>04</a:t>
            </a:r>
          </a:p>
        </p:txBody>
      </p:sp>
      <p:sp>
        <p:nvSpPr>
          <p:cNvPr id="17" name="audit-title-3">
            <a:extLst xmlns:a="http://schemas.openxmlformats.org/drawingml/2006/main">
              <a:ext uri="{FF2B5EF4-FFF2-40B4-BE49-F238E27FC236}">
                <a16:creationId xmlns:a16="http://schemas.microsoft.com/office/drawing/2014/main" id="{659B6283-FB63-48BB-8B59-F32D1289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530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EDE2"/>
                </a:solidFill>
              </a:defRPr>
            </a:pPr>
            <a:r>
              <a:rPr sz="1650" b="1" i="0">
                <a:solidFill>
                  <a:srgbClr val="F3EDE2"/>
                </a:solidFill>
              </a:rPr>
              <a:t>Receipt integrity</a:t>
            </a:r>
          </a:p>
        </p:txBody>
      </p:sp>
      <p:sp>
        <p:nvSpPr>
          <p:cNvPr id="18" name="audit-copy-3">
            <a:extLst xmlns:a="http://schemas.openxmlformats.org/drawingml/2006/main">
              <a:ext uri="{FF2B5EF4-FFF2-40B4-BE49-F238E27FC236}">
                <a16:creationId xmlns:a16="http://schemas.microsoft.com/office/drawing/2014/main" id="{C60C621C-0DD2-489B-989A-EBA2EBF2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625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8D2C8"/>
                </a:solidFill>
              </a:defRPr>
            </a:pPr>
            <a:r>
              <a:rPr sz="1350" b="0" i="0">
                <a:solidFill>
                  <a:srgbClr val="D8D2C8"/>
                </a:solidFill>
              </a:rPr>
              <a:t>Receipts can move scores up or down — but never erase forecast-only status.</a:t>
            </a:r>
          </a:p>
        </p:txBody>
      </p:sp>
      <p:sp>
        <p:nvSpPr>
          <p:cNvPr id="19" name="rule-150-597">
            <a:extLst xmlns:a="http://schemas.openxmlformats.org/drawingml/2006/main">
              <a:ext uri="{FF2B5EF4-FFF2-40B4-BE49-F238E27FC236}">
                <a16:creationId xmlns:a16="http://schemas.microsoft.com/office/drawing/2014/main" id="{1931D252-5C39-4C3B-A316-A0834F6E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86425"/>
            <a:ext cx="979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section-4">
            <a:extLst xmlns:a="http://schemas.openxmlformats.org/drawingml/2006/main">
              <a:ext uri="{FF2B5EF4-FFF2-40B4-BE49-F238E27FC236}">
                <a16:creationId xmlns:a16="http://schemas.microsoft.com/office/drawing/2014/main" id="{1D0FBA0A-9ED9-4451-9652-AD5FCCA5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3EDE2"/>
                </a:solidFill>
              </a:defRPr>
            </a:pPr>
            <a:r>
              <a:rPr sz="750" b="1" i="0">
                <a:solidFill>
                  <a:srgbClr val="F3EDE2"/>
                </a:solidFill>
              </a:rPr>
              <a:t>WHAT CHANGED</a:t>
            </a:r>
          </a:p>
        </p:txBody>
      </p:sp>
      <p:sp>
        <p:nvSpPr>
          <p:cNvPr id="21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3099CF83-7816-45D7-BDC1-91446E7D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F3EDE2"/>
                </a:solidFill>
              </a:defRPr>
            </a:pPr>
            <a:r>
              <a:rPr sz="750" b="1" i="0">
                <a:solidFill>
                  <a:srgbClr val="F3EDE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627484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6E1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e70f9af034c8f"/>
          <a:srcRect xmlns:a="http://schemas.openxmlformats.org/drawingml/2006/main" l="931" t="0" r="9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0"/>
            <a:ext cx="4762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winner-overlay">
            <a:extLst xmlns:a="http://schemas.openxmlformats.org/drawingml/2006/main">
              <a:ext uri="{FF2B5EF4-FFF2-40B4-BE49-F238E27FC236}">
                <a16:creationId xmlns:a16="http://schemas.microsoft.com/office/drawing/2014/main" id="{3BBEFDEC-C5AB-4B0D-962E-BB349AB7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1714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label-bg-strategy winner set">
            <a:extLst xmlns:a="http://schemas.openxmlformats.org/drawingml/2006/main">
              <a:ext uri="{FF2B5EF4-FFF2-40B4-BE49-F238E27FC236}">
                <a16:creationId xmlns:a16="http://schemas.microsoft.com/office/drawing/2014/main" id="{B5A4C53A-EDFE-41DF-A11E-2BD43452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8478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bel-strategy winner set">
            <a:extLst xmlns:a="http://schemas.openxmlformats.org/drawingml/2006/main">
              <a:ext uri="{FF2B5EF4-FFF2-40B4-BE49-F238E27FC236}">
                <a16:creationId xmlns:a16="http://schemas.microsoft.com/office/drawing/2014/main" id="{40C7E298-1B5A-40F8-B26B-D5D18A6B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102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0A0A"/>
                </a:solidFill>
              </a:defRPr>
            </a:pPr>
            <a:r>
              <a:rPr sz="900" b="1" i="0">
                <a:solidFill>
                  <a:srgbClr val="0A0A0A"/>
                </a:solidFill>
              </a:rPr>
              <a:t>STRATEGY WINNER SET</a:t>
            </a:r>
          </a:p>
        </p:txBody>
      </p:sp>
      <p:sp>
        <p:nvSpPr>
          <p:cNvPr id="5" name="winner-title">
            <a:extLst xmlns:a="http://schemas.openxmlformats.org/drawingml/2006/main">
              <a:ext uri="{FF2B5EF4-FFF2-40B4-BE49-F238E27FC236}">
                <a16:creationId xmlns:a16="http://schemas.microsoft.com/office/drawing/2014/main" id="{15743B24-6D75-4195-A88C-6D337465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6191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3EDE2"/>
                </a:solidFill>
              </a:defRPr>
            </a:pPr>
            <a:r>
              <a:rPr sz="3900" b="1" i="0">
                <a:solidFill>
                  <a:srgbClr val="F3EDE2"/>
                </a:solidFill>
              </a:rPr>
              <a:t>Build a named</a:t>
            </a:r>
          </a:p>
          <a:p xmlns:a="http://schemas.openxmlformats.org/drawingml/2006/main">
            <a:pPr algn="l">
              <a:defRPr sz="3900" b="1" i="0">
                <a:solidFill>
                  <a:srgbClr val="F3EDE2"/>
                </a:solidFill>
              </a:defRPr>
            </a:pPr>
            <a:r>
              <a:rPr sz="3900" b="1" i="0">
                <a:solidFill>
                  <a:srgbClr val="F3EDE2"/>
                </a:solidFill>
              </a:rPr>
              <a:t>circle. Drop only</a:t>
            </a:r>
          </a:p>
          <a:p xmlns:a="http://schemas.openxmlformats.org/drawingml/2006/main">
            <a:pPr algn="l">
              <a:defRPr sz="3900" b="1" i="0">
                <a:solidFill>
                  <a:srgbClr val="F3EDE2"/>
                </a:solidFill>
              </a:defRPr>
            </a:pPr>
            <a:r>
              <a:rPr sz="3900" b="1" i="0">
                <a:solidFill>
                  <a:srgbClr val="F3EDE2"/>
                </a:solidFill>
              </a:rPr>
              <a:t>what capacity proves.</a:t>
            </a:r>
          </a:p>
        </p:txBody>
      </p:sp>
      <p:sp>
        <p:nvSpPr>
          <p:cNvPr id="6" name="winner-synthesis">
            <a:extLst xmlns:a="http://schemas.openxmlformats.org/drawingml/2006/main">
              <a:ext uri="{FF2B5EF4-FFF2-40B4-BE49-F238E27FC236}">
                <a16:creationId xmlns:a16="http://schemas.microsoft.com/office/drawing/2014/main" id="{CE82820D-0F72-4124-B883-58229705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7FF2E"/>
                </a:solidFill>
              </a:defRPr>
            </a:pPr>
            <a:r>
              <a:rPr sz="1050" b="1" i="0">
                <a:solidFill>
                  <a:srgbClr val="C7FF2E"/>
                </a:solidFill>
              </a:rPr>
              <a:t>COMMUNITY-FIRST + FOUNDER-STORY + HONEST SCARCITY</a:t>
            </a:r>
          </a:p>
        </p:txBody>
      </p:sp>
      <p:sp>
        <p:nvSpPr>
          <p:cNvPr id="7" name="winner-copy">
            <a:extLst xmlns:a="http://schemas.openxmlformats.org/drawingml/2006/main">
              <a:ext uri="{FF2B5EF4-FFF2-40B4-BE49-F238E27FC236}">
                <a16:creationId xmlns:a16="http://schemas.microsoft.com/office/drawing/2014/main" id="{0A96473A-011C-4BD2-A81A-FC8FDAFC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6096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3EDE2"/>
                </a:solidFill>
              </a:defRPr>
            </a:pPr>
            <a:r>
              <a:rPr sz="1650" b="0" i="0">
                <a:solidFill>
                  <a:srgbClr val="F3EDE2"/>
                </a:solidFill>
              </a:rPr>
              <a:t>The engine cannot cleanly separate its top two strategies, so the winner is the synthesis: founder truth creates the world; a named community carries it; verified production capacity sets the drop size.</a:t>
            </a:r>
          </a:p>
        </p:txBody>
      </p:sp>
      <p:sp>
        <p:nvSpPr>
          <p:cNvPr id="8" name="winner-score">
            <a:extLst xmlns:a="http://schemas.openxmlformats.org/drawingml/2006/main">
              <a:ext uri="{FF2B5EF4-FFF2-40B4-BE49-F238E27FC236}">
                <a16:creationId xmlns:a16="http://schemas.microsoft.com/office/drawing/2014/main" id="{427EAC5D-B2AE-4925-813E-6C2C37E7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483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3EDE2"/>
                </a:solidFill>
              </a:defRPr>
            </a:pPr>
            <a:r>
              <a:rPr sz="1875" b="1" i="0">
                <a:solidFill>
                  <a:srgbClr val="F3EDE2"/>
                </a:solidFill>
              </a:rPr>
              <a:t>10.12 / 9.94</a:t>
            </a:r>
          </a:p>
        </p:txBody>
      </p:sp>
      <p:sp>
        <p:nvSpPr>
          <p:cNvPr id="9" name="footer-section-5">
            <a:extLst xmlns:a="http://schemas.openxmlformats.org/drawingml/2006/main">
              <a:ext uri="{FF2B5EF4-FFF2-40B4-BE49-F238E27FC236}">
                <a16:creationId xmlns:a16="http://schemas.microsoft.com/office/drawing/2014/main" id="{3A6C28C9-932C-490E-B520-FC69EB92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3EDE2"/>
                </a:solidFill>
              </a:defRPr>
            </a:pPr>
            <a:r>
              <a:rPr sz="750" b="1" i="0">
                <a:solidFill>
                  <a:srgbClr val="F3EDE2"/>
                </a:solidFill>
              </a:rPr>
              <a:t>STRATEGY WINNER</a:t>
            </a:r>
          </a:p>
        </p:txBody>
      </p:sp>
      <p:sp>
        <p:nvSpPr>
          <p:cNvPr id="10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ACC62AB9-DCD0-4B2B-99B0-AA300326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F3EDE2"/>
                </a:solidFill>
              </a:defRPr>
            </a:pPr>
            <a:r>
              <a:rPr sz="750" b="1" i="0">
                <a:solidFill>
                  <a:srgbClr val="F3EDE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784337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The product story">
            <a:extLst xmlns:a="http://schemas.openxmlformats.org/drawingml/2006/main">
              <a:ext uri="{FF2B5EF4-FFF2-40B4-BE49-F238E27FC236}">
                <a16:creationId xmlns:a16="http://schemas.microsoft.com/office/drawing/2014/main" id="{9D03B1B3-B10B-47ED-BF03-1393DD84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E102B"/>
                </a:solidFill>
              </a:defRPr>
            </a:pPr>
            <a:r>
              <a:rPr sz="975" b="1" i="0">
                <a:solidFill>
                  <a:srgbClr val="6E102B"/>
                </a:solidFill>
              </a:rPr>
              <a:t>THE PRODUCT STORY</a:t>
            </a:r>
          </a:p>
        </p:txBody>
      </p:sp>
      <p:sp>
        <p:nvSpPr>
          <p:cNvPr id="2" name="title-One hero. Two fit proofs.&#10;Two entry points.">
            <a:extLst xmlns:a="http://schemas.openxmlformats.org/drawingml/2006/main">
              <a:ext uri="{FF2B5EF4-FFF2-40B4-BE49-F238E27FC236}">
                <a16:creationId xmlns:a16="http://schemas.microsoft.com/office/drawing/2014/main" id="{17515021-4BF0-4362-A60F-F8C5CD6C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A0A0A"/>
                </a:solidFill>
              </a:defRPr>
            </a:pPr>
            <a:r>
              <a:rPr sz="3600" b="1" i="0">
                <a:solidFill>
                  <a:srgbClr val="0A0A0A"/>
                </a:solidFill>
              </a:rPr>
              <a:t>One hero. Two fit proofs.</a:t>
            </a:r>
          </a:p>
          <a:p xmlns:a="http://schemas.openxmlformats.org/drawingml/2006/main">
            <a:pPr algn="l">
              <a:defRPr sz="3600" b="1" i="0">
                <a:solidFill>
                  <a:srgbClr val="0A0A0A"/>
                </a:solidFill>
              </a:defRPr>
            </a:pPr>
            <a:r>
              <a:rPr sz="3600" b="1" i="0">
                <a:solidFill>
                  <a:srgbClr val="0A0A0A"/>
                </a:solidFill>
              </a:rPr>
              <a:t>Two entry points.</a:t>
            </a:r>
          </a:p>
        </p:txBody>
      </p:sp>
      <p:sp>
        <p:nvSpPr>
          <p:cNvPr id="3" name="subtitle-One hero. Two fit proofs.&#10;Two entry points.">
            <a:extLst xmlns:a="http://schemas.openxmlformats.org/drawingml/2006/main">
              <a:ext uri="{FF2B5EF4-FFF2-40B4-BE49-F238E27FC236}">
                <a16:creationId xmlns:a16="http://schemas.microsoft.com/office/drawing/2014/main" id="{8C447D4C-98D8-442A-88E3-5007253C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8B867E"/>
                </a:solidFill>
              </a:defRPr>
            </a:pPr>
            <a:r>
              <a:rPr sz="1500" b="0" i="0">
                <a:solidFill>
                  <a:srgbClr val="8B867E"/>
                </a:solidFill>
              </a:rPr>
              <a:t>The sequence follows what each SKU can prove on camera — not an invented sales forecast.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beb4334d54b87"/>
          <a:srcRect xmlns:a="http://schemas.openxmlformats.org/drawingml/2006/main" l="0" t="20455" r="0" b="20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952750"/>
            <a:ext cx="3143250" cy="2476500"/>
          </a:xfrm>
          <a:prstGeom xmlns:a="http://schemas.openxmlformats.org/drawingml/2006/main" prst="rect">
            <a:avLst/>
          </a:prstGeom>
        </p:spPr>
      </p:pic>
      <p:sp>
        <p:nvSpPr>
          <p:cNvPr id="5" name="product-band-01">
            <a:extLst xmlns:a="http://schemas.openxmlformats.org/drawingml/2006/main">
              <a:ext uri="{FF2B5EF4-FFF2-40B4-BE49-F238E27FC236}">
                <a16:creationId xmlns:a16="http://schemas.microsoft.com/office/drawing/2014/main" id="{DCBCDB4F-0A75-4A04-9EAE-34194F19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911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duct-num-01">
            <a:extLst xmlns:a="http://schemas.openxmlformats.org/drawingml/2006/main">
              <a:ext uri="{FF2B5EF4-FFF2-40B4-BE49-F238E27FC236}">
                <a16:creationId xmlns:a16="http://schemas.microsoft.com/office/drawing/2014/main" id="{27C0A64A-6D01-41D7-A0B3-CF9AF5C7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7FF2E"/>
                </a:solidFill>
              </a:defRPr>
            </a:pPr>
            <a:r>
              <a:rPr sz="900" b="1" i="0">
                <a:solidFill>
                  <a:srgbClr val="C7FF2E"/>
                </a:solidFill>
              </a:rPr>
              <a:t>01</a:t>
            </a:r>
          </a:p>
        </p:txBody>
      </p:sp>
      <p:sp>
        <p:nvSpPr>
          <p:cNvPr id="7" name="product-name-01">
            <a:extLst xmlns:a="http://schemas.openxmlformats.org/drawingml/2006/main">
              <a:ext uri="{FF2B5EF4-FFF2-40B4-BE49-F238E27FC236}">
                <a16:creationId xmlns:a16="http://schemas.microsoft.com/office/drawing/2014/main" id="{9C1B95EB-7C55-4614-A585-4BA47BF2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86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EDE2"/>
                </a:solidFill>
              </a:defRPr>
            </a:pPr>
            <a:r>
              <a:rPr sz="1050" b="1" i="0">
                <a:solidFill>
                  <a:srgbClr val="F3EDE2"/>
                </a:solidFill>
              </a:rPr>
              <a:t>THE FIRM JACKET</a:t>
            </a:r>
          </a:p>
        </p:txBody>
      </p:sp>
      <p:sp>
        <p:nvSpPr>
          <p:cNvPr id="8" name="product-role-01">
            <a:extLst xmlns:a="http://schemas.openxmlformats.org/drawingml/2006/main">
              <a:ext uri="{FF2B5EF4-FFF2-40B4-BE49-F238E27FC236}">
                <a16:creationId xmlns:a16="http://schemas.microsoft.com/office/drawing/2014/main" id="{70D76C48-67EA-4D0B-8ED9-B2884E02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00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E102B"/>
                </a:solidFill>
              </a:defRPr>
            </a:pPr>
            <a:r>
              <a:rPr sz="1275" b="1" i="0">
                <a:solidFill>
                  <a:srgbClr val="6E102B"/>
                </a:solidFill>
              </a:rPr>
              <a:t>Identity lead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c8c6ba01b4d7a"/>
          <a:srcRect xmlns:a="http://schemas.openxmlformats.org/drawingml/2006/main" l="0" t="27864" r="0" b="278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8100" y="2952750"/>
            <a:ext cx="4476750" cy="2476500"/>
          </a:xfrm>
          <a:prstGeom xmlns:a="http://schemas.openxmlformats.org/drawingml/2006/main" prst="rect">
            <a:avLst/>
          </a:prstGeom>
        </p:spPr>
      </p:pic>
      <p:sp>
        <p:nvSpPr>
          <p:cNvPr id="10" name="product-band-02">
            <a:extLst xmlns:a="http://schemas.openxmlformats.org/drawingml/2006/main">
              <a:ext uri="{FF2B5EF4-FFF2-40B4-BE49-F238E27FC236}">
                <a16:creationId xmlns:a16="http://schemas.microsoft.com/office/drawing/2014/main" id="{95EB3EC4-C27C-4ABE-B6CD-6CD39681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99110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duct-num-02">
            <a:extLst xmlns:a="http://schemas.openxmlformats.org/drawingml/2006/main">
              <a:ext uri="{FF2B5EF4-FFF2-40B4-BE49-F238E27FC236}">
                <a16:creationId xmlns:a16="http://schemas.microsoft.com/office/drawing/2014/main" id="{E18E782D-F51D-49FD-8491-22AB1657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054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7FF2E"/>
                </a:solidFill>
              </a:defRPr>
            </a:pPr>
            <a:r>
              <a:rPr sz="900" b="1" i="0">
                <a:solidFill>
                  <a:srgbClr val="C7FF2E"/>
                </a:solidFill>
              </a:rPr>
              <a:t>02</a:t>
            </a:r>
          </a:p>
        </p:txBody>
      </p:sp>
      <p:sp>
        <p:nvSpPr>
          <p:cNvPr id="12" name="product-name-02">
            <a:extLst xmlns:a="http://schemas.openxmlformats.org/drawingml/2006/main">
              <a:ext uri="{FF2B5EF4-FFF2-40B4-BE49-F238E27FC236}">
                <a16:creationId xmlns:a16="http://schemas.microsoft.com/office/drawing/2014/main" id="{92B573C9-8B8A-4056-8003-76D1A590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86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EDE2"/>
                </a:solidFill>
              </a:defRPr>
            </a:pPr>
            <a:r>
              <a:rPr sz="1050" b="1" i="0">
                <a:solidFill>
                  <a:srgbClr val="F3EDE2"/>
                </a:solidFill>
              </a:rPr>
              <a:t>WOMEN’S + MEN’S DENIM</a:t>
            </a:r>
          </a:p>
        </p:txBody>
      </p:sp>
      <p:sp>
        <p:nvSpPr>
          <p:cNvPr id="13" name="product-role-02">
            <a:extLst xmlns:a="http://schemas.openxmlformats.org/drawingml/2006/main">
              <a:ext uri="{FF2B5EF4-FFF2-40B4-BE49-F238E27FC236}">
                <a16:creationId xmlns:a16="http://schemas.microsoft.com/office/drawing/2014/main" id="{4D747569-8A17-46CD-9CBE-7693A9E5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6007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E102B"/>
                </a:solidFill>
              </a:defRPr>
            </a:pPr>
            <a:r>
              <a:rPr sz="1275" b="1" i="0">
                <a:solidFill>
                  <a:srgbClr val="6E102B"/>
                </a:solidFill>
              </a:rPr>
              <a:t>Fit-content anchors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3bb39de9d4629"/>
          <a:srcRect xmlns:a="http://schemas.openxmlformats.org/drawingml/2006/main" l="0" t="29934" r="0" b="29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01050" y="2952750"/>
            <a:ext cx="3143250" cy="2476500"/>
          </a:xfrm>
          <a:prstGeom xmlns:a="http://schemas.openxmlformats.org/drawingml/2006/main" prst="rect">
            <a:avLst/>
          </a:prstGeom>
        </p:spPr>
      </p:pic>
      <p:sp>
        <p:nvSpPr>
          <p:cNvPr id="15" name="product-band-03">
            <a:extLst xmlns:a="http://schemas.openxmlformats.org/drawingml/2006/main">
              <a:ext uri="{FF2B5EF4-FFF2-40B4-BE49-F238E27FC236}">
                <a16:creationId xmlns:a16="http://schemas.microsoft.com/office/drawing/2014/main" id="{7FF0C649-89D9-4D8D-AF02-42A970FF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911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duct-num-03">
            <a:extLst xmlns:a="http://schemas.openxmlformats.org/drawingml/2006/main">
              <a:ext uri="{FF2B5EF4-FFF2-40B4-BE49-F238E27FC236}">
                <a16:creationId xmlns:a16="http://schemas.microsoft.com/office/drawing/2014/main" id="{CC8477B2-D5DC-495A-84BB-3E04856E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054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7FF2E"/>
                </a:solidFill>
              </a:defRPr>
            </a:pPr>
            <a:r>
              <a:rPr sz="900" b="1" i="0">
                <a:solidFill>
                  <a:srgbClr val="C7FF2E"/>
                </a:solidFill>
              </a:rPr>
              <a:t>03</a:t>
            </a:r>
          </a:p>
        </p:txBody>
      </p:sp>
      <p:sp>
        <p:nvSpPr>
          <p:cNvPr id="17" name="product-name-03">
            <a:extLst xmlns:a="http://schemas.openxmlformats.org/drawingml/2006/main">
              <a:ext uri="{FF2B5EF4-FFF2-40B4-BE49-F238E27FC236}">
                <a16:creationId xmlns:a16="http://schemas.microsoft.com/office/drawing/2014/main" id="{9FEE47D1-71FE-4650-9D94-06ADE2E6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86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EDE2"/>
                </a:solidFill>
              </a:defRPr>
            </a:pPr>
            <a:r>
              <a:rPr sz="1050" b="1" i="0">
                <a:solidFill>
                  <a:srgbClr val="F3EDE2"/>
                </a:solidFill>
              </a:rPr>
              <a:t>TOP + SCARF</a:t>
            </a:r>
          </a:p>
        </p:txBody>
      </p:sp>
      <p:sp>
        <p:nvSpPr>
          <p:cNvPr id="18" name="product-role-03">
            <a:extLst xmlns:a="http://schemas.openxmlformats.org/drawingml/2006/main">
              <a:ext uri="{FF2B5EF4-FFF2-40B4-BE49-F238E27FC236}">
                <a16:creationId xmlns:a16="http://schemas.microsoft.com/office/drawing/2014/main" id="{D195F8E2-3ECA-4CAB-BC5A-44E394A5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600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E102B"/>
                </a:solidFill>
              </a:defRPr>
            </a:pPr>
            <a:r>
              <a:rPr sz="1275" b="1" i="0">
                <a:solidFill>
                  <a:srgbClr val="6E102B"/>
                </a:solidFill>
              </a:rPr>
              <a:t>Entry / styling layer</a:t>
            </a:r>
          </a:p>
        </p:txBody>
      </p:sp>
      <p:sp>
        <p:nvSpPr>
          <p:cNvPr id="19" name="footer-section-6">
            <a:extLst xmlns:a="http://schemas.openxmlformats.org/drawingml/2006/main">
              <a:ext uri="{FF2B5EF4-FFF2-40B4-BE49-F238E27FC236}">
                <a16:creationId xmlns:a16="http://schemas.microsoft.com/office/drawing/2014/main" id="{6BA8963B-B6BE-47D3-9224-3C263EC3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B867E"/>
                </a:solidFill>
              </a:defRPr>
            </a:pPr>
            <a:r>
              <a:rPr sz="750" b="1" i="0">
                <a:solidFill>
                  <a:srgbClr val="8B867E"/>
                </a:solidFill>
              </a:rPr>
              <a:t>PRODUCT ARCHITECTURE</a:t>
            </a:r>
          </a:p>
        </p:txBody>
      </p:sp>
      <p:sp>
        <p:nvSpPr>
          <p:cNvPr id="20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19A25747-F59E-4B33-9505-9461C58D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8B867E"/>
                </a:solidFill>
              </a:defRPr>
            </a:pPr>
            <a:r>
              <a:rPr sz="750" b="1" i="0">
                <a:solidFill>
                  <a:srgbClr val="8B867E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197534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D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-Content distribution">
            <a:extLst xmlns:a="http://schemas.openxmlformats.org/drawingml/2006/main">
              <a:ext uri="{FF2B5EF4-FFF2-40B4-BE49-F238E27FC236}">
                <a16:creationId xmlns:a16="http://schemas.microsoft.com/office/drawing/2014/main" id="{2D611CA0-79A7-4ABC-9580-1F041649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E102B"/>
                </a:solidFill>
              </a:defRPr>
            </a:pPr>
            <a:r>
              <a:rPr sz="975" b="1" i="0">
                <a:solidFill>
                  <a:srgbClr val="6E102B"/>
                </a:solidFill>
              </a:rPr>
              <a:t>CONTENT DISTRIBUTION</a:t>
            </a:r>
          </a:p>
        </p:txBody>
      </p:sp>
      <p:sp>
        <p:nvSpPr>
          <p:cNvPr id="2" name="title-Each channel has one job.">
            <a:extLst xmlns:a="http://schemas.openxmlformats.org/drawingml/2006/main">
              <a:ext uri="{FF2B5EF4-FFF2-40B4-BE49-F238E27FC236}">
                <a16:creationId xmlns:a16="http://schemas.microsoft.com/office/drawing/2014/main" id="{E970D3B6-FDFB-4597-B38D-236657AF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A0A0A"/>
                </a:solidFill>
              </a:defRPr>
            </a:pPr>
            <a:r>
              <a:rPr sz="3600" b="1" i="0">
                <a:solidFill>
                  <a:srgbClr val="0A0A0A"/>
                </a:solidFill>
              </a:rPr>
              <a:t>Each channel has one job.</a:t>
            </a:r>
          </a:p>
        </p:txBody>
      </p:sp>
      <p:sp>
        <p:nvSpPr>
          <p:cNvPr id="3" name="subtitle-Each channel has one job.">
            <a:extLst xmlns:a="http://schemas.openxmlformats.org/drawingml/2006/main">
              <a:ext uri="{FF2B5EF4-FFF2-40B4-BE49-F238E27FC236}">
                <a16:creationId xmlns:a16="http://schemas.microsoft.com/office/drawing/2014/main" id="{93634042-05F6-43B8-8AB6-E3271BA8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8B867E"/>
                </a:solidFill>
              </a:defRPr>
            </a:pPr>
            <a:r>
              <a:rPr sz="1500" b="0" i="0">
                <a:solidFill>
                  <a:srgbClr val="8B867E"/>
                </a:solidFill>
              </a:rPr>
              <a:t>The launch breaks when every platform is asked to do everything.</a:t>
            </a:r>
          </a:p>
        </p:txBody>
      </p:sp>
      <p:sp>
        <p:nvSpPr>
          <p:cNvPr id="4" name="channel-0">
            <a:extLst xmlns:a="http://schemas.openxmlformats.org/drawingml/2006/main">
              <a:ext uri="{FF2B5EF4-FFF2-40B4-BE49-F238E27FC236}">
                <a16:creationId xmlns:a16="http://schemas.microsoft.com/office/drawing/2014/main" id="{5499782F-85A9-4072-AF0A-6009158D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2495550" cy="2571750"/>
          </a:xfrm>
          <a:prstGeom xmlns:a="http://schemas.openxmlformats.org/drawingml/2006/main" prst="roundRect">
            <a:avLst>
              <a:gd name="adj" fmla="val 6870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hannel-num-0">
            <a:extLst xmlns:a="http://schemas.openxmlformats.org/drawingml/2006/main">
              <a:ext uri="{FF2B5EF4-FFF2-40B4-BE49-F238E27FC236}">
                <a16:creationId xmlns:a16="http://schemas.microsoft.com/office/drawing/2014/main" id="{F6EA8B0D-D141-488F-A173-48E32BB6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7FF2E"/>
                </a:solidFill>
              </a:defRPr>
            </a:pPr>
            <a:r>
              <a:rPr sz="1650" b="1" i="0">
                <a:solidFill>
                  <a:srgbClr val="C7FF2E"/>
                </a:solidFill>
              </a:rPr>
              <a:t>01</a:t>
            </a:r>
          </a:p>
        </p:txBody>
      </p:sp>
      <p:sp>
        <p:nvSpPr>
          <p:cNvPr id="6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AA773111-DB44-447E-9B8A-5E61A408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3EDE2"/>
                </a:solidFill>
              </a:defRPr>
            </a:pPr>
            <a:r>
              <a:rPr sz="1275" b="1" i="0">
                <a:solidFill>
                  <a:srgbClr val="F3EDE2"/>
                </a:solidFill>
              </a:rPr>
              <a:t>YOUTUBE</a:t>
            </a:r>
          </a:p>
        </p:txBody>
      </p:sp>
      <p:sp>
        <p:nvSpPr>
          <p:cNvPr id="7" name="channel-job-0">
            <a:extLst xmlns:a="http://schemas.openxmlformats.org/drawingml/2006/main">
              <a:ext uri="{FF2B5EF4-FFF2-40B4-BE49-F238E27FC236}">
                <a16:creationId xmlns:a16="http://schemas.microsoft.com/office/drawing/2014/main" id="{37DB69B4-3F47-4A13-A36C-C8E5E215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EDE2"/>
                </a:solidFill>
              </a:defRPr>
            </a:pPr>
            <a:r>
              <a:rPr sz="1650" b="1" i="0">
                <a:solidFill>
                  <a:srgbClr val="F3EDE2"/>
                </a:solidFill>
              </a:rPr>
              <a:t>DEPTH</a:t>
            </a:r>
          </a:p>
        </p:txBody>
      </p:sp>
      <p:sp>
        <p:nvSpPr>
          <p:cNvPr id="8" name="channel-copy-0">
            <a:extLst xmlns:a="http://schemas.openxmlformats.org/drawingml/2006/main">
              <a:ext uri="{FF2B5EF4-FFF2-40B4-BE49-F238E27FC236}">
                <a16:creationId xmlns:a16="http://schemas.microsoft.com/office/drawing/2014/main" id="{9F34441E-F096-415F-87B2-1508E3C7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2076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8D2C8"/>
                </a:solidFill>
              </a:defRPr>
            </a:pPr>
            <a:r>
              <a:rPr sz="1200" b="0" i="0">
                <a:solidFill>
                  <a:srgbClr val="D8D2C8"/>
                </a:solidFill>
              </a:rPr>
              <a:t>Founder films explain the garment, decision and world.</a:t>
            </a:r>
          </a:p>
        </p:txBody>
      </p:sp>
      <p:sp>
        <p:nvSpPr>
          <p:cNvPr id="9" name="channel-arrow-0">
            <a:extLst xmlns:a="http://schemas.openxmlformats.org/drawingml/2006/main">
              <a:ext uri="{FF2B5EF4-FFF2-40B4-BE49-F238E27FC236}">
                <a16:creationId xmlns:a16="http://schemas.microsoft.com/office/drawing/2014/main" id="{C65925BD-B482-4EBC-9C86-710A5264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052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C43346"/>
                </a:solidFill>
              </a:defRPr>
            </a:pPr>
            <a:r>
              <a:rPr sz="2025" b="1" i="0">
                <a:solidFill>
                  <a:srgbClr val="C43346"/>
                </a:solidFill>
              </a:rPr>
              <a:t>→</a:t>
            </a:r>
          </a:p>
        </p:txBody>
      </p:sp>
      <p:sp>
        <p:nvSpPr>
          <p:cNvPr id="10" name="channel-1">
            <a:extLst xmlns:a="http://schemas.openxmlformats.org/drawingml/2006/main">
              <a:ext uri="{FF2B5EF4-FFF2-40B4-BE49-F238E27FC236}">
                <a16:creationId xmlns:a16="http://schemas.microsoft.com/office/drawing/2014/main" id="{2A2B797C-B54E-4932-8B74-F99A34FD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14650"/>
            <a:ext cx="2495550" cy="2571750"/>
          </a:xfrm>
          <a:prstGeom xmlns:a="http://schemas.openxmlformats.org/drawingml/2006/main" prst="roundRect">
            <a:avLst>
              <a:gd name="adj" fmla="val 687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1" name="channel-num-1">
            <a:extLst xmlns:a="http://schemas.openxmlformats.org/drawingml/2006/main">
              <a:ext uri="{FF2B5EF4-FFF2-40B4-BE49-F238E27FC236}">
                <a16:creationId xmlns:a16="http://schemas.microsoft.com/office/drawing/2014/main" id="{E9584DCC-9137-4E43-B0B3-547A1AFE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24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E102B"/>
                </a:solidFill>
              </a:defRPr>
            </a:pPr>
            <a:r>
              <a:rPr sz="1650" b="1" i="0">
                <a:solidFill>
                  <a:srgbClr val="6E102B"/>
                </a:solidFill>
              </a:rPr>
              <a:t>02</a:t>
            </a:r>
          </a:p>
        </p:txBody>
      </p:sp>
      <p:sp>
        <p:nvSpPr>
          <p:cNvPr id="12" name="channel-name-1">
            <a:extLst xmlns:a="http://schemas.openxmlformats.org/drawingml/2006/main">
              <a:ext uri="{FF2B5EF4-FFF2-40B4-BE49-F238E27FC236}">
                <a16:creationId xmlns:a16="http://schemas.microsoft.com/office/drawing/2014/main" id="{EEEDE853-A5DC-4720-AE9A-2E60A71F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38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0A0A"/>
                </a:solidFill>
              </a:defRPr>
            </a:pPr>
            <a:r>
              <a:rPr sz="1275" b="1" i="0">
                <a:solidFill>
                  <a:srgbClr val="0A0A0A"/>
                </a:solidFill>
              </a:rPr>
              <a:t>TIKTOK</a:t>
            </a:r>
          </a:p>
        </p:txBody>
      </p:sp>
      <p:sp>
        <p:nvSpPr>
          <p:cNvPr id="13" name="channel-job-1">
            <a:extLst xmlns:a="http://schemas.openxmlformats.org/drawingml/2006/main">
              <a:ext uri="{FF2B5EF4-FFF2-40B4-BE49-F238E27FC236}">
                <a16:creationId xmlns:a16="http://schemas.microsoft.com/office/drawing/2014/main" id="{5D162D50-BFC3-4283-91A6-7064BA82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57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E102B"/>
                </a:solidFill>
              </a:defRPr>
            </a:pPr>
            <a:r>
              <a:rPr sz="1650" b="1" i="0">
                <a:solidFill>
                  <a:srgbClr val="6E102B"/>
                </a:solidFill>
              </a:rPr>
              <a:t>DISCOVERY</a:t>
            </a:r>
          </a:p>
        </p:txBody>
      </p:sp>
      <p:sp>
        <p:nvSpPr>
          <p:cNvPr id="14" name="channel-copy-1">
            <a:extLst xmlns:a="http://schemas.openxmlformats.org/drawingml/2006/main">
              <a:ext uri="{FF2B5EF4-FFF2-40B4-BE49-F238E27FC236}">
                <a16:creationId xmlns:a16="http://schemas.microsoft.com/office/drawing/2014/main" id="{A2237169-8996-4B38-8D77-5EC02070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76750"/>
            <a:ext cx="2076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8B867E"/>
                </a:solidFill>
              </a:defRPr>
            </a:pPr>
            <a:r>
              <a:rPr sz="1200" b="0" i="0">
                <a:solidFill>
                  <a:srgbClr val="8B867E"/>
                </a:solidFill>
              </a:rPr>
              <a:t>Native hooks, fit moments and live proof find the audience.</a:t>
            </a:r>
          </a:p>
        </p:txBody>
      </p:sp>
      <p:sp>
        <p:nvSpPr>
          <p:cNvPr id="15" name="channel-arrow-1">
            <a:extLst xmlns:a="http://schemas.openxmlformats.org/drawingml/2006/main">
              <a:ext uri="{FF2B5EF4-FFF2-40B4-BE49-F238E27FC236}">
                <a16:creationId xmlns:a16="http://schemas.microsoft.com/office/drawing/2014/main" id="{505B654D-218C-479B-AD4B-339D7BC3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052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C43346"/>
                </a:solidFill>
              </a:defRPr>
            </a:pPr>
            <a:r>
              <a:rPr sz="2025" b="1" i="0">
                <a:solidFill>
                  <a:srgbClr val="C43346"/>
                </a:solidFill>
              </a:rPr>
              <a:t>→</a:t>
            </a:r>
          </a:p>
        </p:txBody>
      </p:sp>
      <p:sp>
        <p:nvSpPr>
          <p:cNvPr id="16" name="channel-2">
            <a:extLst xmlns:a="http://schemas.openxmlformats.org/drawingml/2006/main">
              <a:ext uri="{FF2B5EF4-FFF2-40B4-BE49-F238E27FC236}">
                <a16:creationId xmlns:a16="http://schemas.microsoft.com/office/drawing/2014/main" id="{C3A3131F-5263-4132-AC01-A5A74E5A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2495550" cy="2571750"/>
          </a:xfrm>
          <a:prstGeom xmlns:a="http://schemas.openxmlformats.org/drawingml/2006/main" prst="roundRect">
            <a:avLst>
              <a:gd name="adj" fmla="val 687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7" name="channel-num-2">
            <a:extLst xmlns:a="http://schemas.openxmlformats.org/drawingml/2006/main">
              <a:ext uri="{FF2B5EF4-FFF2-40B4-BE49-F238E27FC236}">
                <a16:creationId xmlns:a16="http://schemas.microsoft.com/office/drawing/2014/main" id="{E7E21797-FB5E-45C0-840A-F59A4D84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24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E102B"/>
                </a:solidFill>
              </a:defRPr>
            </a:pPr>
            <a:r>
              <a:rPr sz="1650" b="1" i="0">
                <a:solidFill>
                  <a:srgbClr val="6E102B"/>
                </a:solidFill>
              </a:rPr>
              <a:t>03</a:t>
            </a:r>
          </a:p>
        </p:txBody>
      </p:sp>
      <p:sp>
        <p:nvSpPr>
          <p:cNvPr id="18" name="channel-name-2">
            <a:extLst xmlns:a="http://schemas.openxmlformats.org/drawingml/2006/main">
              <a:ext uri="{FF2B5EF4-FFF2-40B4-BE49-F238E27FC236}">
                <a16:creationId xmlns:a16="http://schemas.microsoft.com/office/drawing/2014/main" id="{93402EA9-CE0E-4AAC-B113-8701A180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0A0A"/>
                </a:solidFill>
              </a:defRPr>
            </a:pPr>
            <a:r>
              <a:rPr sz="1275" b="1" i="0">
                <a:solidFill>
                  <a:srgbClr val="0A0A0A"/>
                </a:solidFill>
              </a:rPr>
              <a:t>UGC</a:t>
            </a:r>
          </a:p>
        </p:txBody>
      </p:sp>
      <p:sp>
        <p:nvSpPr>
          <p:cNvPr id="19" name="channel-job-2">
            <a:extLst xmlns:a="http://schemas.openxmlformats.org/drawingml/2006/main">
              <a:ext uri="{FF2B5EF4-FFF2-40B4-BE49-F238E27FC236}">
                <a16:creationId xmlns:a16="http://schemas.microsoft.com/office/drawing/2014/main" id="{FCA1E6B7-7139-4FA1-B405-ACB90302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57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E102B"/>
                </a:solidFill>
              </a:defRPr>
            </a:pPr>
            <a:r>
              <a:rPr sz="1650" b="1" i="0">
                <a:solidFill>
                  <a:srgbClr val="6E102B"/>
                </a:solidFill>
              </a:rPr>
              <a:t>TRUST</a:t>
            </a:r>
          </a:p>
        </p:txBody>
      </p:sp>
      <p:sp>
        <p:nvSpPr>
          <p:cNvPr id="20" name="channel-copy-2">
            <a:extLst xmlns:a="http://schemas.openxmlformats.org/drawingml/2006/main">
              <a:ext uri="{FF2B5EF4-FFF2-40B4-BE49-F238E27FC236}">
                <a16:creationId xmlns:a16="http://schemas.microsoft.com/office/drawing/2014/main" id="{B1823A84-1C72-4C5E-BF3E-24543A14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76750"/>
            <a:ext cx="2076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8B867E"/>
                </a:solidFill>
              </a:defRPr>
            </a:pPr>
            <a:r>
              <a:rPr sz="1200" b="0" i="0">
                <a:solidFill>
                  <a:srgbClr val="8B867E"/>
                </a:solidFill>
              </a:rPr>
              <a:t>Governed creators turn product truth into social proof.</a:t>
            </a:r>
          </a:p>
        </p:txBody>
      </p:sp>
      <p:sp>
        <p:nvSpPr>
          <p:cNvPr id="21" name="channel-arrow-2">
            <a:extLst xmlns:a="http://schemas.openxmlformats.org/drawingml/2006/main">
              <a:ext uri="{FF2B5EF4-FFF2-40B4-BE49-F238E27FC236}">
                <a16:creationId xmlns:a16="http://schemas.microsoft.com/office/drawing/2014/main" id="{8AC0488B-DB05-41DE-8F6C-C2D3F241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052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C43346"/>
                </a:solidFill>
              </a:defRPr>
            </a:pPr>
            <a:r>
              <a:rPr sz="2025" b="1" i="0">
                <a:solidFill>
                  <a:srgbClr val="C43346"/>
                </a:solidFill>
              </a:rPr>
              <a:t>→</a:t>
            </a:r>
          </a:p>
        </p:txBody>
      </p:sp>
      <p:sp>
        <p:nvSpPr>
          <p:cNvPr id="22" name="channel-3">
            <a:extLst xmlns:a="http://schemas.openxmlformats.org/drawingml/2006/main">
              <a:ext uri="{FF2B5EF4-FFF2-40B4-BE49-F238E27FC236}">
                <a16:creationId xmlns:a16="http://schemas.microsoft.com/office/drawing/2014/main" id="{F4A45FDD-09EA-4B60-A31E-698B6CAF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14650"/>
            <a:ext cx="2495550" cy="2571750"/>
          </a:xfrm>
          <a:prstGeom xmlns:a="http://schemas.openxmlformats.org/drawingml/2006/main" prst="roundRect">
            <a:avLst>
              <a:gd name="adj" fmla="val 687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3" name="channel-num-3">
            <a:extLst xmlns:a="http://schemas.openxmlformats.org/drawingml/2006/main">
              <a:ext uri="{FF2B5EF4-FFF2-40B4-BE49-F238E27FC236}">
                <a16:creationId xmlns:a16="http://schemas.microsoft.com/office/drawing/2014/main" id="{7292E252-3277-4A4A-B0F1-FB52567F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24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E102B"/>
                </a:solidFill>
              </a:defRPr>
            </a:pPr>
            <a:r>
              <a:rPr sz="1650" b="1" i="0">
                <a:solidFill>
                  <a:srgbClr val="6E102B"/>
                </a:solidFill>
              </a:rPr>
              <a:t>04</a:t>
            </a:r>
          </a:p>
        </p:txBody>
      </p:sp>
      <p:sp>
        <p:nvSpPr>
          <p:cNvPr id="24" name="channel-name-3">
            <a:extLst xmlns:a="http://schemas.openxmlformats.org/drawingml/2006/main">
              <a:ext uri="{FF2B5EF4-FFF2-40B4-BE49-F238E27FC236}">
                <a16:creationId xmlns:a16="http://schemas.microsoft.com/office/drawing/2014/main" id="{E247789E-6DD8-430F-B55C-5908609D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38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0A0A"/>
                </a:solidFill>
              </a:defRPr>
            </a:pPr>
            <a:r>
              <a:rPr sz="1275" b="1" i="0">
                <a:solidFill>
                  <a:srgbClr val="0A0A0A"/>
                </a:solidFill>
              </a:rPr>
              <a:t>SHOPIFY</a:t>
            </a:r>
          </a:p>
        </p:txBody>
      </p:sp>
      <p:sp>
        <p:nvSpPr>
          <p:cNvPr id="25" name="channel-job-3">
            <a:extLst xmlns:a="http://schemas.openxmlformats.org/drawingml/2006/main">
              <a:ext uri="{FF2B5EF4-FFF2-40B4-BE49-F238E27FC236}">
                <a16:creationId xmlns:a16="http://schemas.microsoft.com/office/drawing/2014/main" id="{D41A1D5E-C410-476A-9D49-856C984E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57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E102B"/>
                </a:solidFill>
              </a:defRPr>
            </a:pPr>
            <a:r>
              <a:rPr sz="1650" b="1" i="0">
                <a:solidFill>
                  <a:srgbClr val="6E102B"/>
                </a:solidFill>
              </a:rPr>
              <a:t>CONVERSION</a:t>
            </a:r>
          </a:p>
        </p:txBody>
      </p:sp>
      <p:sp>
        <p:nvSpPr>
          <p:cNvPr id="26" name="channel-copy-3">
            <a:extLst xmlns:a="http://schemas.openxmlformats.org/drawingml/2006/main">
              <a:ext uri="{FF2B5EF4-FFF2-40B4-BE49-F238E27FC236}">
                <a16:creationId xmlns:a16="http://schemas.microsoft.com/office/drawing/2014/main" id="{38AFF353-A037-49A9-9726-923FF673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76750"/>
            <a:ext cx="2076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8B867E"/>
                </a:solidFill>
              </a:defRPr>
            </a:pPr>
            <a:r>
              <a:rPr sz="1200" b="0" i="0">
                <a:solidFill>
                  <a:srgbClr val="8B867E"/>
                </a:solidFill>
              </a:rPr>
              <a:t>Product truth, duties, sizing, returns and checkout close the loop.</a:t>
            </a:r>
          </a:p>
        </p:txBody>
      </p:sp>
      <p:sp>
        <p:nvSpPr>
          <p:cNvPr id="27" name="distribution-rule">
            <a:extLst xmlns:a="http://schemas.openxmlformats.org/drawingml/2006/main">
              <a:ext uri="{FF2B5EF4-FFF2-40B4-BE49-F238E27FC236}">
                <a16:creationId xmlns:a16="http://schemas.microsoft.com/office/drawing/2014/main" id="{B416F997-090A-4828-B987-A1B231F7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E102B"/>
                </a:solidFill>
              </a:defRPr>
            </a:pPr>
            <a:r>
              <a:rPr sz="1050" b="1" i="0">
                <a:solidFill>
                  <a:srgbClr val="6E102B"/>
                </a:solidFill>
              </a:rPr>
              <a:t>BOOST ONLY AFTER AN ORGANIC CREATIVE EARNS THE RIGHT TO BE AMPLIFIED.</a:t>
            </a:r>
          </a:p>
        </p:txBody>
      </p:sp>
      <p:sp>
        <p:nvSpPr>
          <p:cNvPr id="28" name="footer-section-7">
            <a:extLst xmlns:a="http://schemas.openxmlformats.org/drawingml/2006/main">
              <a:ext uri="{FF2B5EF4-FFF2-40B4-BE49-F238E27FC236}">
                <a16:creationId xmlns:a16="http://schemas.microsoft.com/office/drawing/2014/main" id="{ADAF7D1A-0E97-4550-BD52-7C7E8333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B867E"/>
                </a:solidFill>
              </a:defRPr>
            </a:pPr>
            <a:r>
              <a:rPr sz="750" b="1" i="0">
                <a:solidFill>
                  <a:srgbClr val="8B867E"/>
                </a:solidFill>
              </a:rPr>
              <a:t>DISTRIBUTION SYSTEM</a:t>
            </a:r>
          </a:p>
        </p:txBody>
      </p:sp>
      <p:sp>
        <p:nvSpPr>
          <p:cNvPr id="29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78FD1B55-B505-49C9-9588-1BDC994E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8B867E"/>
                </a:solidFill>
              </a:defRPr>
            </a:pPr>
            <a:r>
              <a:rPr sz="750" b="1" i="0">
                <a:solidFill>
                  <a:srgbClr val="8B867E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482314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-The blind-spot firewall">
            <a:extLst xmlns:a="http://schemas.openxmlformats.org/drawingml/2006/main">
              <a:ext uri="{FF2B5EF4-FFF2-40B4-BE49-F238E27FC236}">
                <a16:creationId xmlns:a16="http://schemas.microsoft.com/office/drawing/2014/main" id="{8D445F7B-B173-4BA9-A067-906AC18A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7FF2E"/>
                </a:solidFill>
              </a:defRPr>
            </a:pPr>
            <a:r>
              <a:rPr sz="975" b="1" i="0">
                <a:solidFill>
                  <a:srgbClr val="C7FF2E"/>
                </a:solidFill>
              </a:rPr>
              <a:t>THE BLIND-SPOT FIREWALL</a:t>
            </a:r>
          </a:p>
        </p:txBody>
      </p:sp>
      <p:sp>
        <p:nvSpPr>
          <p:cNvPr id="2" name="title-Twelve locks before selling.">
            <a:extLst xmlns:a="http://schemas.openxmlformats.org/drawingml/2006/main">
              <a:ext uri="{FF2B5EF4-FFF2-40B4-BE49-F238E27FC236}">
                <a16:creationId xmlns:a16="http://schemas.microsoft.com/office/drawing/2014/main" id="{BA9D27F2-FC3B-4304-A294-69333037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3EDE2"/>
                </a:solidFill>
              </a:defRPr>
            </a:pPr>
            <a:r>
              <a:rPr sz="3600" b="1" i="0">
                <a:solidFill>
                  <a:srgbClr val="F3EDE2"/>
                </a:solidFill>
              </a:rPr>
              <a:t>Twelve locks before selling.</a:t>
            </a:r>
          </a:p>
        </p:txBody>
      </p:sp>
      <p:sp>
        <p:nvSpPr>
          <p:cNvPr id="3" name="subtitle-Twelve locks before selling.">
            <a:extLst xmlns:a="http://schemas.openxmlformats.org/drawingml/2006/main">
              <a:ext uri="{FF2B5EF4-FFF2-40B4-BE49-F238E27FC236}">
                <a16:creationId xmlns:a16="http://schemas.microsoft.com/office/drawing/2014/main" id="{23E4D2DC-86DA-42DA-BC49-93FE2446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8D2C8"/>
                </a:solidFill>
              </a:defRPr>
            </a:pPr>
            <a:r>
              <a:rPr sz="1500" b="0" i="0">
                <a:solidFill>
                  <a:srgbClr val="D8D2C8"/>
                </a:solidFill>
              </a:rPr>
              <a:t>The engine can recommend a route. It cannot clear legal, tax, customs or production truth.</a:t>
            </a:r>
          </a:p>
        </p:txBody>
      </p:sp>
      <p:sp>
        <p:nvSpPr>
          <p:cNvPr id="4" name="gate-0">
            <a:extLst xmlns:a="http://schemas.openxmlformats.org/drawingml/2006/main">
              <a:ext uri="{FF2B5EF4-FFF2-40B4-BE49-F238E27FC236}">
                <a16:creationId xmlns:a16="http://schemas.microsoft.com/office/drawing/2014/main" id="{440B7290-3BE6-45FC-81C0-38F2E930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4955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5" name="gate-num-0">
            <a:extLst xmlns:a="http://schemas.openxmlformats.org/drawingml/2006/main">
              <a:ext uri="{FF2B5EF4-FFF2-40B4-BE49-F238E27FC236}">
                <a16:creationId xmlns:a16="http://schemas.microsoft.com/office/drawing/2014/main" id="{445CCAE6-954D-4007-B650-F34EFED0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7FF2E"/>
                </a:solidFill>
              </a:defRPr>
            </a:pPr>
            <a:r>
              <a:rPr sz="1500" b="1" i="0">
                <a:solidFill>
                  <a:srgbClr val="C7FF2E"/>
                </a:solidFill>
              </a:rPr>
              <a:t>01—03</a:t>
            </a:r>
          </a:p>
        </p:txBody>
      </p:sp>
      <p:sp>
        <p:nvSpPr>
          <p:cNvPr id="6" name="gate-title-0">
            <a:extLst xmlns:a="http://schemas.openxmlformats.org/drawingml/2006/main">
              <a:ext uri="{FF2B5EF4-FFF2-40B4-BE49-F238E27FC236}">
                <a16:creationId xmlns:a16="http://schemas.microsoft.com/office/drawing/2014/main" id="{884E3210-EE31-484C-A198-EADDCA9C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3EDE2"/>
                </a:solidFill>
              </a:defRPr>
            </a:pPr>
            <a:r>
              <a:rPr sz="1200" b="1" i="0">
                <a:solidFill>
                  <a:srgbClr val="F3EDE2"/>
                </a:solidFill>
              </a:rPr>
              <a:t>CROSS-BORDER</a:t>
            </a:r>
          </a:p>
        </p:txBody>
      </p:sp>
      <p:sp>
        <p:nvSpPr>
          <p:cNvPr id="7" name="gate-list-0">
            <a:extLst xmlns:a="http://schemas.openxmlformats.org/drawingml/2006/main">
              <a:ext uri="{FF2B5EF4-FFF2-40B4-BE49-F238E27FC236}">
                <a16:creationId xmlns:a16="http://schemas.microsoft.com/office/drawing/2014/main" id="{3929FB1B-611E-42BE-A196-7BC6E043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2047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8D2C8"/>
                </a:solidFill>
              </a:defRPr>
            </a:pPr>
            <a:r>
              <a:rPr sz="1275" b="0" i="0">
                <a:solidFill>
                  <a:srgbClr val="D8D2C8"/>
                </a:solidFill>
              </a:rPr>
              <a:t>Importer of record</a:t>
            </a:r>
          </a:p>
          <a:p xmlns:a="http://schemas.openxmlformats.org/drawingml/2006/main">
            <a:pPr algn="l">
              <a:defRPr sz="1275" b="0" i="0">
                <a:solidFill>
                  <a:srgbClr val="D8D2C8"/>
                </a:solidFill>
              </a:defRPr>
            </a:pPr>
            <a:r>
              <a:rPr sz="1275" b="0" i="0">
                <a:solidFill>
                  <a:srgbClr val="D8D2C8"/>
                </a:solidFill>
              </a:rPr>
              <a:t>DDP vs U.S. 3PL</a:t>
            </a:r>
          </a:p>
          <a:p xmlns:a="http://schemas.openxmlformats.org/drawingml/2006/main">
            <a:pPr algn="l">
              <a:defRPr sz="1275" b="0" i="0">
                <a:solidFill>
                  <a:srgbClr val="D8D2C8"/>
                </a:solidFill>
              </a:defRPr>
            </a:pPr>
            <a:r>
              <a:rPr sz="1275" b="0" i="0">
                <a:solidFill>
                  <a:srgbClr val="D8D2C8"/>
                </a:solidFill>
              </a:rPr>
              <a:t>HS code + origin</a:t>
            </a:r>
          </a:p>
        </p:txBody>
      </p:sp>
      <p:sp>
        <p:nvSpPr>
          <p:cNvPr id="8" name="gate-1">
            <a:extLst xmlns:a="http://schemas.openxmlformats.org/drawingml/2006/main">
              <a:ext uri="{FF2B5EF4-FFF2-40B4-BE49-F238E27FC236}">
                <a16:creationId xmlns:a16="http://schemas.microsoft.com/office/drawing/2014/main" id="{BA8FF4E3-C19F-4F45-9486-A66353FB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52750"/>
            <a:ext cx="24955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6E102B"/>
          </a:solidFill>
          <a:ln xmlns:a="http://schemas.openxmlformats.org/drawingml/2006/main" w="9525">
            <a:solidFill>
              <a:srgbClr val="C43346"/>
            </a:solidFill>
            <a:prstDash val="solid"/>
          </a:ln>
        </p:spPr>
      </p:sp>
      <p:sp>
        <p:nvSpPr>
          <p:cNvPr id="9" name="gate-num-1">
            <a:extLst xmlns:a="http://schemas.openxmlformats.org/drawingml/2006/main">
              <a:ext uri="{FF2B5EF4-FFF2-40B4-BE49-F238E27FC236}">
                <a16:creationId xmlns:a16="http://schemas.microsoft.com/office/drawing/2014/main" id="{92223FDC-B751-44ED-B8C4-962A0685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004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7FF2E"/>
                </a:solidFill>
              </a:defRPr>
            </a:pPr>
            <a:r>
              <a:rPr sz="1500" b="1" i="0">
                <a:solidFill>
                  <a:srgbClr val="C7FF2E"/>
                </a:solidFill>
              </a:rPr>
              <a:t>04—06</a:t>
            </a:r>
          </a:p>
        </p:txBody>
      </p:sp>
      <p:sp>
        <p:nvSpPr>
          <p:cNvPr id="10" name="gate-title-1">
            <a:extLst xmlns:a="http://schemas.openxmlformats.org/drawingml/2006/main">
              <a:ext uri="{FF2B5EF4-FFF2-40B4-BE49-F238E27FC236}">
                <a16:creationId xmlns:a16="http://schemas.microsoft.com/office/drawing/2014/main" id="{E129074A-8B07-405F-BD10-51D5521A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957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3EDE2"/>
                </a:solidFill>
              </a:defRPr>
            </a:pPr>
            <a:r>
              <a:rPr sz="1200" b="1" i="0">
                <a:solidFill>
                  <a:srgbClr val="F3EDE2"/>
                </a:solidFill>
              </a:rPr>
              <a:t>ECONOMICS</a:t>
            </a:r>
          </a:p>
        </p:txBody>
      </p:sp>
      <p:sp>
        <p:nvSpPr>
          <p:cNvPr id="11" name="gate-list-1">
            <a:extLst xmlns:a="http://schemas.openxmlformats.org/drawingml/2006/main">
              <a:ext uri="{FF2B5EF4-FFF2-40B4-BE49-F238E27FC236}">
                <a16:creationId xmlns:a16="http://schemas.microsoft.com/office/drawing/2014/main" id="{F9EC2058-C16E-468A-9C2E-E93AFB1B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29100"/>
            <a:ext cx="2047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8D2C8"/>
                </a:solidFill>
              </a:defRPr>
            </a:pPr>
            <a:r>
              <a:rPr sz="1275" b="0" i="0">
                <a:solidFill>
                  <a:srgbClr val="D8D2C8"/>
                </a:solidFill>
              </a:rPr>
              <a:t>USD contribution / SKU</a:t>
            </a:r>
          </a:p>
          <a:p xmlns:a="http://schemas.openxmlformats.org/drawingml/2006/main">
            <a:pPr algn="l">
              <a:defRPr sz="1275" b="0" i="0">
                <a:solidFill>
                  <a:srgbClr val="D8D2C8"/>
                </a:solidFill>
              </a:defRPr>
            </a:pPr>
            <a:r>
              <a:rPr sz="1275" b="0" i="0">
                <a:solidFill>
                  <a:srgbClr val="D8D2C8"/>
                </a:solidFill>
              </a:rPr>
              <a:t>Duties + freight</a:t>
            </a:r>
          </a:p>
          <a:p xmlns:a="http://schemas.openxmlformats.org/drawingml/2006/main">
            <a:pPr algn="l">
              <a:defRPr sz="1275" b="0" i="0">
                <a:solidFill>
                  <a:srgbClr val="D8D2C8"/>
                </a:solidFill>
              </a:defRPr>
            </a:pPr>
            <a:r>
              <a:rPr sz="1275" b="0" i="0">
                <a:solidFill>
                  <a:srgbClr val="D8D2C8"/>
                </a:solidFill>
              </a:rPr>
              <a:t>Returns + re-import</a:t>
            </a:r>
          </a:p>
        </p:txBody>
      </p:sp>
      <p:sp>
        <p:nvSpPr>
          <p:cNvPr id="12" name="gate-2">
            <a:extLst xmlns:a="http://schemas.openxmlformats.org/drawingml/2006/main">
              <a:ext uri="{FF2B5EF4-FFF2-40B4-BE49-F238E27FC236}">
                <a16:creationId xmlns:a16="http://schemas.microsoft.com/office/drawing/2014/main" id="{AE214F93-2FAD-4582-9C0A-28928E07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24955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3" name="gate-num-2">
            <a:extLst xmlns:a="http://schemas.openxmlformats.org/drawingml/2006/main">
              <a:ext uri="{FF2B5EF4-FFF2-40B4-BE49-F238E27FC236}">
                <a16:creationId xmlns:a16="http://schemas.microsoft.com/office/drawing/2014/main" id="{4FDEC3CA-749D-4955-BBBA-54A8121D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004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7FF2E"/>
                </a:solidFill>
              </a:defRPr>
            </a:pPr>
            <a:r>
              <a:rPr sz="1500" b="1" i="0">
                <a:solidFill>
                  <a:srgbClr val="C7FF2E"/>
                </a:solidFill>
              </a:rPr>
              <a:t>07—09</a:t>
            </a:r>
          </a:p>
        </p:txBody>
      </p:sp>
      <p:sp>
        <p:nvSpPr>
          <p:cNvPr id="14" name="gate-title-2">
            <a:extLst xmlns:a="http://schemas.openxmlformats.org/drawingml/2006/main">
              <a:ext uri="{FF2B5EF4-FFF2-40B4-BE49-F238E27FC236}">
                <a16:creationId xmlns:a16="http://schemas.microsoft.com/office/drawing/2014/main" id="{43B81774-8F1E-4BA7-857F-2C4FB2DC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57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3EDE2"/>
                </a:solidFill>
              </a:defRPr>
            </a:pPr>
            <a:r>
              <a:rPr sz="1200" b="1" i="0">
                <a:solidFill>
                  <a:srgbClr val="F3EDE2"/>
                </a:solidFill>
              </a:rPr>
              <a:t>COMPLIANCE</a:t>
            </a:r>
          </a:p>
        </p:txBody>
      </p:sp>
      <p:sp>
        <p:nvSpPr>
          <p:cNvPr id="15" name="gate-list-2">
            <a:extLst xmlns:a="http://schemas.openxmlformats.org/drawingml/2006/main">
              <a:ext uri="{FF2B5EF4-FFF2-40B4-BE49-F238E27FC236}">
                <a16:creationId xmlns:a16="http://schemas.microsoft.com/office/drawing/2014/main" id="{98E4A78F-B0B6-4FE6-9912-28447ED5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2047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8D2C8"/>
                </a:solidFill>
              </a:defRPr>
            </a:pPr>
            <a:r>
              <a:rPr sz="1275" b="0" i="0">
                <a:solidFill>
                  <a:srgbClr val="D8D2C8"/>
                </a:solidFill>
              </a:rPr>
              <a:t>Sales-tax nexus</a:t>
            </a:r>
          </a:p>
          <a:p xmlns:a="http://schemas.openxmlformats.org/drawingml/2006/main">
            <a:pPr algn="l">
              <a:defRPr sz="1275" b="0" i="0">
                <a:solidFill>
                  <a:srgbClr val="D8D2C8"/>
                </a:solidFill>
              </a:defRPr>
            </a:pPr>
            <a:r>
              <a:rPr sz="1275" b="0" i="0">
                <a:solidFill>
                  <a:srgbClr val="D8D2C8"/>
                </a:solidFill>
              </a:rPr>
              <a:t>Textile + flammability</a:t>
            </a:r>
          </a:p>
          <a:p xmlns:a="http://schemas.openxmlformats.org/drawingml/2006/main">
            <a:pPr algn="l">
              <a:defRPr sz="1275" b="0" i="0">
                <a:solidFill>
                  <a:srgbClr val="D8D2C8"/>
                </a:solidFill>
              </a:defRPr>
            </a:pPr>
            <a:r>
              <a:rPr sz="1275" b="0" i="0">
                <a:solidFill>
                  <a:srgbClr val="D8D2C8"/>
                </a:solidFill>
              </a:rPr>
              <a:t>Trademark clearance</a:t>
            </a:r>
          </a:p>
        </p:txBody>
      </p:sp>
      <p:sp>
        <p:nvSpPr>
          <p:cNvPr id="16" name="gate-3">
            <a:extLst xmlns:a="http://schemas.openxmlformats.org/drawingml/2006/main">
              <a:ext uri="{FF2B5EF4-FFF2-40B4-BE49-F238E27FC236}">
                <a16:creationId xmlns:a16="http://schemas.microsoft.com/office/drawing/2014/main" id="{B3F40328-CCEB-45EA-91B4-5681B0B3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52750"/>
            <a:ext cx="24955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7" name="gate-num-3">
            <a:extLst xmlns:a="http://schemas.openxmlformats.org/drawingml/2006/main">
              <a:ext uri="{FF2B5EF4-FFF2-40B4-BE49-F238E27FC236}">
                <a16:creationId xmlns:a16="http://schemas.microsoft.com/office/drawing/2014/main" id="{E4693A24-7A79-4965-8AF7-55DAC587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004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7FF2E"/>
                </a:solidFill>
              </a:defRPr>
            </a:pPr>
            <a:r>
              <a:rPr sz="1500" b="1" i="0">
                <a:solidFill>
                  <a:srgbClr val="C7FF2E"/>
                </a:solidFill>
              </a:rPr>
              <a:t>10—12</a:t>
            </a:r>
          </a:p>
        </p:txBody>
      </p:sp>
      <p:sp>
        <p:nvSpPr>
          <p:cNvPr id="18" name="gate-title-3">
            <a:extLst xmlns:a="http://schemas.openxmlformats.org/drawingml/2006/main">
              <a:ext uri="{FF2B5EF4-FFF2-40B4-BE49-F238E27FC236}">
                <a16:creationId xmlns:a16="http://schemas.microsoft.com/office/drawing/2014/main" id="{C5321286-DE8D-42CD-8460-27C3F7CA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957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3EDE2"/>
                </a:solidFill>
              </a:defRPr>
            </a:pPr>
            <a:r>
              <a:rPr sz="1200" b="1" i="0">
                <a:solidFill>
                  <a:srgbClr val="F3EDE2"/>
                </a:solidFill>
              </a:rPr>
              <a:t>GROWTH OPS</a:t>
            </a:r>
          </a:p>
        </p:txBody>
      </p:sp>
      <p:sp>
        <p:nvSpPr>
          <p:cNvPr id="19" name="gate-list-3">
            <a:extLst xmlns:a="http://schemas.openxmlformats.org/drawingml/2006/main">
              <a:ext uri="{FF2B5EF4-FFF2-40B4-BE49-F238E27FC236}">
                <a16:creationId xmlns:a16="http://schemas.microsoft.com/office/drawing/2014/main" id="{559C0BAD-930B-4341-A5C5-F93C0B44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29100"/>
            <a:ext cx="2047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8D2C8"/>
                </a:solidFill>
              </a:defRPr>
            </a:pPr>
            <a:r>
              <a:rPr sz="1275" b="0" i="0">
                <a:solidFill>
                  <a:srgbClr val="D8D2C8"/>
                </a:solidFill>
              </a:rPr>
              <a:t>Creator + FTC brief</a:t>
            </a:r>
          </a:p>
          <a:p xmlns:a="http://schemas.openxmlformats.org/drawingml/2006/main">
            <a:pPr algn="l">
              <a:defRPr sz="1275" b="0" i="0">
                <a:solidFill>
                  <a:srgbClr val="D8D2C8"/>
                </a:solidFill>
              </a:defRPr>
            </a:pPr>
            <a:r>
              <a:rPr sz="1275" b="0" i="0">
                <a:solidFill>
                  <a:srgbClr val="D8D2C8"/>
                </a:solidFill>
              </a:rPr>
              <a:t>Email/SMS/privacy</a:t>
            </a:r>
          </a:p>
          <a:p xmlns:a="http://schemas.openxmlformats.org/drawingml/2006/main">
            <a:pPr algn="l">
              <a:defRPr sz="1275" b="0" i="0">
                <a:solidFill>
                  <a:srgbClr val="D8D2C8"/>
                </a:solidFill>
              </a:defRPr>
            </a:pPr>
            <a:r>
              <a:rPr sz="1275" b="0" i="0">
                <a:solidFill>
                  <a:srgbClr val="D8D2C8"/>
                </a:solidFill>
              </a:rPr>
              <a:t>Access authorization</a:t>
            </a:r>
          </a:p>
        </p:txBody>
      </p:sp>
      <p:sp>
        <p:nvSpPr>
          <p:cNvPr id="20" name="label-bg-no booking">
            <a:extLst xmlns:a="http://schemas.openxmlformats.org/drawingml/2006/main">
              <a:ext uri="{FF2B5EF4-FFF2-40B4-BE49-F238E27FC236}">
                <a16:creationId xmlns:a16="http://schemas.microsoft.com/office/drawing/2014/main" id="{BE618DE6-1FE9-4D34-A71C-ABA0C2DB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2001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abel-no booking">
            <a:extLst xmlns:a="http://schemas.openxmlformats.org/drawingml/2006/main">
              <a:ext uri="{FF2B5EF4-FFF2-40B4-BE49-F238E27FC236}">
                <a16:creationId xmlns:a16="http://schemas.microsoft.com/office/drawing/2014/main" id="{36978BA4-A79C-4DC6-BB58-0D784FA5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578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0A0A"/>
                </a:solidFill>
              </a:defRPr>
            </a:pPr>
            <a:r>
              <a:rPr sz="900" b="1" i="0">
                <a:solidFill>
                  <a:srgbClr val="0A0A0A"/>
                </a:solidFill>
              </a:rPr>
              <a:t>NO BOOKING</a:t>
            </a:r>
          </a:p>
        </p:txBody>
      </p:sp>
      <p:sp>
        <p:nvSpPr>
          <p:cNvPr id="22" name="label-bg-no inventory scale">
            <a:extLst xmlns:a="http://schemas.openxmlformats.org/drawingml/2006/main">
              <a:ext uri="{FF2B5EF4-FFF2-40B4-BE49-F238E27FC236}">
                <a16:creationId xmlns:a16="http://schemas.microsoft.com/office/drawing/2014/main" id="{96DAEB66-0B32-4C17-868D-BA05FFB7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791200"/>
            <a:ext cx="16764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3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label-no inventory scale">
            <a:extLst xmlns:a="http://schemas.openxmlformats.org/drawingml/2006/main">
              <a:ext uri="{FF2B5EF4-FFF2-40B4-BE49-F238E27FC236}">
                <a16:creationId xmlns:a16="http://schemas.microsoft.com/office/drawing/2014/main" id="{2008EA51-DD1A-4DE1-B335-B636DE2A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8578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3EDE2"/>
                </a:solidFill>
              </a:defRPr>
            </a:pPr>
            <a:r>
              <a:rPr sz="900" b="1" i="0">
                <a:solidFill>
                  <a:srgbClr val="F3EDE2"/>
                </a:solidFill>
              </a:rPr>
              <a:t>NO INVENTORY SCALE</a:t>
            </a:r>
          </a:p>
        </p:txBody>
      </p:sp>
      <p:sp>
        <p:nvSpPr>
          <p:cNvPr id="24" name="label-bg-no paid amplification">
            <a:extLst xmlns:a="http://schemas.openxmlformats.org/drawingml/2006/main">
              <a:ext uri="{FF2B5EF4-FFF2-40B4-BE49-F238E27FC236}">
                <a16:creationId xmlns:a16="http://schemas.microsoft.com/office/drawing/2014/main" id="{54B671B2-2CA0-4AA7-8F6F-0BA8ACE6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91200"/>
            <a:ext cx="18764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label-no paid amplification">
            <a:extLst xmlns:a="http://schemas.openxmlformats.org/drawingml/2006/main">
              <a:ext uri="{FF2B5EF4-FFF2-40B4-BE49-F238E27FC236}">
                <a16:creationId xmlns:a16="http://schemas.microsoft.com/office/drawing/2014/main" id="{071AD9B4-905F-4FC3-9E51-E099DAAF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857875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3EDE2"/>
                </a:solidFill>
              </a:defRPr>
            </a:pPr>
            <a:r>
              <a:rPr sz="900" b="1" i="0">
                <a:solidFill>
                  <a:srgbClr val="F3EDE2"/>
                </a:solidFill>
              </a:rPr>
              <a:t>NO PAID AMPLIFICATION</a:t>
            </a:r>
          </a:p>
        </p:txBody>
      </p:sp>
      <p:sp>
        <p:nvSpPr>
          <p:cNvPr id="26" name="footer-section-8">
            <a:extLst xmlns:a="http://schemas.openxmlformats.org/drawingml/2006/main">
              <a:ext uri="{FF2B5EF4-FFF2-40B4-BE49-F238E27FC236}">
                <a16:creationId xmlns:a16="http://schemas.microsoft.com/office/drawing/2014/main" id="{546423C8-8135-4CEB-8E22-7691E1EA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3EDE2"/>
                </a:solidFill>
              </a:defRPr>
            </a:pPr>
            <a:r>
              <a:rPr sz="750" b="1" i="0">
                <a:solidFill>
                  <a:srgbClr val="F3EDE2"/>
                </a:solidFill>
              </a:rPr>
              <a:t>READINESS GATES</a:t>
            </a:r>
          </a:p>
        </p:txBody>
      </p:sp>
      <p:sp>
        <p:nvSpPr>
          <p:cNvPr id="27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379F9A93-A6B9-462C-9C49-CCFDF405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F3EDE2"/>
                </a:solidFill>
              </a:defRPr>
            </a:pPr>
            <a:r>
              <a:rPr sz="750" b="1" i="0">
                <a:solidFill>
                  <a:srgbClr val="F3EDE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187619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The economics fork">
            <a:extLst xmlns:a="http://schemas.openxmlformats.org/drawingml/2006/main">
              <a:ext uri="{FF2B5EF4-FFF2-40B4-BE49-F238E27FC236}">
                <a16:creationId xmlns:a16="http://schemas.microsoft.com/office/drawing/2014/main" id="{ECA8334C-D10C-4E13-AD3D-805B8808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E102B"/>
                </a:solidFill>
              </a:defRPr>
            </a:pPr>
            <a:r>
              <a:rPr sz="975" b="1" i="0">
                <a:solidFill>
                  <a:srgbClr val="6E102B"/>
                </a:solidFill>
              </a:rPr>
              <a:t>THE ECONOMICS FORK</a:t>
            </a:r>
          </a:p>
        </p:txBody>
      </p:sp>
      <p:sp>
        <p:nvSpPr>
          <p:cNvPr id="2" name="title-Quote both doors.&#10;Choose after math.">
            <a:extLst xmlns:a="http://schemas.openxmlformats.org/drawingml/2006/main">
              <a:ext uri="{FF2B5EF4-FFF2-40B4-BE49-F238E27FC236}">
                <a16:creationId xmlns:a16="http://schemas.microsoft.com/office/drawing/2014/main" id="{BFAAB301-D565-452D-8D04-BC72C7F6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A0A0A"/>
                </a:solidFill>
              </a:defRPr>
            </a:pPr>
            <a:r>
              <a:rPr sz="3600" b="1" i="0">
                <a:solidFill>
                  <a:srgbClr val="0A0A0A"/>
                </a:solidFill>
              </a:rPr>
              <a:t>Quote both doors.</a:t>
            </a:r>
          </a:p>
          <a:p xmlns:a="http://schemas.openxmlformats.org/drawingml/2006/main">
            <a:pPr algn="l">
              <a:defRPr sz="3600" b="1" i="0">
                <a:solidFill>
                  <a:srgbClr val="0A0A0A"/>
                </a:solidFill>
              </a:defRPr>
            </a:pPr>
            <a:r>
              <a:rPr sz="3600" b="1" i="0">
                <a:solidFill>
                  <a:srgbClr val="0A0A0A"/>
                </a:solidFill>
              </a:rPr>
              <a:t>Choose after math.</a:t>
            </a:r>
          </a:p>
        </p:txBody>
      </p:sp>
      <p:sp>
        <p:nvSpPr>
          <p:cNvPr id="3" name="subtitle-Quote both doors.&#10;Choose after math.">
            <a:extLst xmlns:a="http://schemas.openxmlformats.org/drawingml/2006/main">
              <a:ext uri="{FF2B5EF4-FFF2-40B4-BE49-F238E27FC236}">
                <a16:creationId xmlns:a16="http://schemas.microsoft.com/office/drawing/2014/main" id="{16CF0EC9-3359-44F3-A1F8-C0AA7609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8B867E"/>
                </a:solidFill>
              </a:defRPr>
            </a:pPr>
            <a:r>
              <a:rPr sz="1500" b="0" i="0">
                <a:solidFill>
                  <a:srgbClr val="8B867E"/>
                </a:solidFill>
              </a:rPr>
              <a:t>Cross-border fulfilment is the first operating decision that can kill the U.S. plan.</a:t>
            </a:r>
          </a:p>
        </p:txBody>
      </p:sp>
      <p:sp>
        <p:nvSpPr>
          <p:cNvPr id="4" name="ddp-door">
            <a:extLst xmlns:a="http://schemas.openxmlformats.org/drawingml/2006/main">
              <a:ext uri="{FF2B5EF4-FFF2-40B4-BE49-F238E27FC236}">
                <a16:creationId xmlns:a16="http://schemas.microsoft.com/office/drawing/2014/main" id="{F6D45A74-F055-47A1-BD56-07CD10EE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5143500" cy="276225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3EDE2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5" name="3pl-door">
            <a:extLst xmlns:a="http://schemas.openxmlformats.org/drawingml/2006/main">
              <a:ext uri="{FF2B5EF4-FFF2-40B4-BE49-F238E27FC236}">
                <a16:creationId xmlns:a16="http://schemas.microsoft.com/office/drawing/2014/main" id="{D7B07810-7744-4B9A-97DA-59AFC279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5600"/>
            <a:ext cx="5143500" cy="276225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-bg-door a">
            <a:extLst xmlns:a="http://schemas.openxmlformats.org/drawingml/2006/main">
              <a:ext uri="{FF2B5EF4-FFF2-40B4-BE49-F238E27FC236}">
                <a16:creationId xmlns:a16="http://schemas.microsoft.com/office/drawing/2014/main" id="{AF5583D2-6B24-4BC6-B3E9-86A8A458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-door a">
            <a:extLst xmlns:a="http://schemas.openxmlformats.org/drawingml/2006/main">
              <a:ext uri="{FF2B5EF4-FFF2-40B4-BE49-F238E27FC236}">
                <a16:creationId xmlns:a16="http://schemas.microsoft.com/office/drawing/2014/main" id="{6C78E981-0FD9-46BB-A78F-BB8104D6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2289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0A0A"/>
                </a:solidFill>
              </a:defRPr>
            </a:pPr>
            <a:r>
              <a:rPr sz="900" b="1" i="0">
                <a:solidFill>
                  <a:srgbClr val="0A0A0A"/>
                </a:solidFill>
              </a:rPr>
              <a:t>DOOR A</a:t>
            </a:r>
          </a:p>
        </p:txBody>
      </p:sp>
      <p:sp>
        <p:nvSpPr>
          <p:cNvPr id="8" name="label-bg-door b">
            <a:extLst xmlns:a="http://schemas.openxmlformats.org/drawingml/2006/main">
              <a:ext uri="{FF2B5EF4-FFF2-40B4-BE49-F238E27FC236}">
                <a16:creationId xmlns:a16="http://schemas.microsoft.com/office/drawing/2014/main" id="{C55FF98F-C135-4DE9-96D9-E57B4BC9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8763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abel-door b">
            <a:extLst xmlns:a="http://schemas.openxmlformats.org/drawingml/2006/main">
              <a:ext uri="{FF2B5EF4-FFF2-40B4-BE49-F238E27FC236}">
                <a16:creationId xmlns:a16="http://schemas.microsoft.com/office/drawing/2014/main" id="{BC24A31B-1869-45B7-BEDA-10E8BC8B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289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0A0A"/>
                </a:solidFill>
              </a:defRPr>
            </a:pPr>
            <a:r>
              <a:rPr sz="900" b="1" i="0">
                <a:solidFill>
                  <a:srgbClr val="0A0A0A"/>
                </a:solidFill>
              </a:rPr>
              <a:t>DOOR B</a:t>
            </a:r>
          </a:p>
        </p:txBody>
      </p:sp>
      <p:sp>
        <p:nvSpPr>
          <p:cNvPr id="10" name="ddp-title">
            <a:extLst xmlns:a="http://schemas.openxmlformats.org/drawingml/2006/main">
              <a:ext uri="{FF2B5EF4-FFF2-40B4-BE49-F238E27FC236}">
                <a16:creationId xmlns:a16="http://schemas.microsoft.com/office/drawing/2014/main" id="{847C72F6-DCA5-4B34-928C-893794D8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A0A0A"/>
                </a:solidFill>
              </a:defRPr>
            </a:pPr>
            <a:r>
              <a:rPr sz="2175" b="1" i="0">
                <a:solidFill>
                  <a:srgbClr val="0A0A0A"/>
                </a:solidFill>
              </a:rPr>
              <a:t>CANADA → U.S. DDP</a:t>
            </a:r>
          </a:p>
        </p:txBody>
      </p:sp>
      <p:sp>
        <p:nvSpPr>
          <p:cNvPr id="11" name="ddp-copy">
            <a:extLst xmlns:a="http://schemas.openxmlformats.org/drawingml/2006/main">
              <a:ext uri="{FF2B5EF4-FFF2-40B4-BE49-F238E27FC236}">
                <a16:creationId xmlns:a16="http://schemas.microsoft.com/office/drawing/2014/main" id="{716FA7C2-83E1-4346-A259-27241788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4171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8B867E"/>
                </a:solidFill>
              </a:defRPr>
            </a:pPr>
            <a:r>
              <a:rPr sz="1425" b="0" i="0">
                <a:solidFill>
                  <a:srgbClr val="8B867E"/>
                </a:solidFill>
              </a:rPr>
              <a:t>Potentially simpler at low volume. Needs carrier quote, duties, brokerage, returns and delivery promise by SKU.</a:t>
            </a:r>
          </a:p>
        </p:txBody>
      </p:sp>
      <p:sp>
        <p:nvSpPr>
          <p:cNvPr id="12" name="pl-title">
            <a:extLst xmlns:a="http://schemas.openxmlformats.org/drawingml/2006/main">
              <a:ext uri="{FF2B5EF4-FFF2-40B4-BE49-F238E27FC236}">
                <a16:creationId xmlns:a16="http://schemas.microsoft.com/office/drawing/2014/main" id="{E227B33B-D4CF-4FB8-B40E-688F0F36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338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3EDE2"/>
                </a:solidFill>
              </a:defRPr>
            </a:pPr>
            <a:r>
              <a:rPr sz="2175" b="1" i="0">
                <a:solidFill>
                  <a:srgbClr val="F3EDE2"/>
                </a:solidFill>
              </a:rPr>
              <a:t>U.S. 3PL</a:t>
            </a:r>
          </a:p>
        </p:txBody>
      </p:sp>
      <p:sp>
        <p:nvSpPr>
          <p:cNvPr id="13" name="pl-copy">
            <a:extLst xmlns:a="http://schemas.openxmlformats.org/drawingml/2006/main">
              <a:ext uri="{FF2B5EF4-FFF2-40B4-BE49-F238E27FC236}">
                <a16:creationId xmlns:a16="http://schemas.microsoft.com/office/drawing/2014/main" id="{7DA7279E-2FE1-4B5F-BEB6-AA96461F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43400"/>
            <a:ext cx="4171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8D2C8"/>
                </a:solidFill>
              </a:defRPr>
            </a:pPr>
            <a:r>
              <a:rPr sz="1425" b="0" i="0">
                <a:solidFill>
                  <a:srgbClr val="D8D2C8"/>
                </a:solidFill>
              </a:rPr>
              <a:t>Potentially faster at scale. Adds inbound inventory, importer, storage, pick-pack and reverse-logistics commitments.</a:t>
            </a:r>
          </a:p>
        </p:txBody>
      </p:sp>
      <p:sp>
        <p:nvSpPr>
          <p:cNvPr id="14" name="fork-rule">
            <a:extLst xmlns:a="http://schemas.openxmlformats.org/drawingml/2006/main">
              <a:ext uri="{FF2B5EF4-FFF2-40B4-BE49-F238E27FC236}">
                <a16:creationId xmlns:a16="http://schemas.microsoft.com/office/drawing/2014/main" id="{6B697710-DE40-4804-A64E-E16EAEB0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E102B"/>
                </a:solidFill>
              </a:defRPr>
            </a:pPr>
            <a:r>
              <a:rPr sz="1050" b="1" i="0">
                <a:solidFill>
                  <a:srgbClr val="6E102B"/>
                </a:solidFill>
              </a:rPr>
              <a:t>DECIDE ON LANDED CONTRIBUTION — NOT SHIPPING PRICE ALONE.</a:t>
            </a:r>
          </a:p>
        </p:txBody>
      </p:sp>
      <p:sp>
        <p:nvSpPr>
          <p:cNvPr id="15" name="footer-section-9">
            <a:extLst xmlns:a="http://schemas.openxmlformats.org/drawingml/2006/main">
              <a:ext uri="{FF2B5EF4-FFF2-40B4-BE49-F238E27FC236}">
                <a16:creationId xmlns:a16="http://schemas.microsoft.com/office/drawing/2014/main" id="{BC988D78-9B36-4137-AD81-E31FCBAF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B867E"/>
                </a:solidFill>
              </a:defRPr>
            </a:pPr>
            <a:r>
              <a:rPr sz="750" b="1" i="0">
                <a:solidFill>
                  <a:srgbClr val="8B867E"/>
                </a:solidFill>
              </a:rPr>
              <a:t>FULFILMENT DECISION</a:t>
            </a:r>
          </a:p>
        </p:txBody>
      </p:sp>
      <p:sp>
        <p:nvSpPr>
          <p:cNvPr id="16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5DB2D265-2D81-4806-8BA3-2578161F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8B867E"/>
                </a:solidFill>
              </a:defRPr>
            </a:pPr>
            <a:r>
              <a:rPr sz="750" b="1" i="0">
                <a:solidFill>
                  <a:srgbClr val="8B867E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439954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ED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The first 90 days">
            <a:extLst xmlns:a="http://schemas.openxmlformats.org/drawingml/2006/main">
              <a:ext uri="{FF2B5EF4-FFF2-40B4-BE49-F238E27FC236}">
                <a16:creationId xmlns:a16="http://schemas.microsoft.com/office/drawing/2014/main" id="{E9EA53C7-67FA-4578-AD9C-24693298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E102B"/>
                </a:solidFill>
              </a:defRPr>
            </a:pPr>
            <a:r>
              <a:rPr sz="975" b="1" i="0">
                <a:solidFill>
                  <a:srgbClr val="6E102B"/>
                </a:solidFill>
              </a:rPr>
              <a:t>THE FIRST 90 DAYS</a:t>
            </a:r>
          </a:p>
        </p:txBody>
      </p:sp>
      <p:sp>
        <p:nvSpPr>
          <p:cNvPr id="2" name="title-Proof before scale — in three acts.">
            <a:extLst xmlns:a="http://schemas.openxmlformats.org/drawingml/2006/main">
              <a:ext uri="{FF2B5EF4-FFF2-40B4-BE49-F238E27FC236}">
                <a16:creationId xmlns:a16="http://schemas.microsoft.com/office/drawing/2014/main" id="{ED4797CE-2FCA-4E3C-B538-BF64DE53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A0A0A"/>
                </a:solidFill>
              </a:defRPr>
            </a:pPr>
            <a:r>
              <a:rPr sz="3600" b="1" i="0">
                <a:solidFill>
                  <a:srgbClr val="0A0A0A"/>
                </a:solidFill>
              </a:rPr>
              <a:t>Proof before scale — in three acts.</a:t>
            </a:r>
          </a:p>
        </p:txBody>
      </p:sp>
      <p:sp>
        <p:nvSpPr>
          <p:cNvPr id="3" name="subtitle-Proof before scale — in three acts.">
            <a:extLst xmlns:a="http://schemas.openxmlformats.org/drawingml/2006/main">
              <a:ext uri="{FF2B5EF4-FFF2-40B4-BE49-F238E27FC236}">
                <a16:creationId xmlns:a16="http://schemas.microsoft.com/office/drawing/2014/main" id="{6B0E764C-E731-46E3-AFDD-DD38B60D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8B867E"/>
                </a:solidFill>
              </a:defRPr>
            </a:pPr>
            <a:r>
              <a:rPr sz="1500" b="0" i="0">
                <a:solidFill>
                  <a:srgbClr val="8B867E"/>
                </a:solidFill>
              </a:rPr>
              <a:t>The operating plan advances only when the prior act leaves evidence.</a:t>
            </a:r>
          </a:p>
        </p:txBody>
      </p:sp>
      <p:sp>
        <p:nvSpPr>
          <p:cNvPr id="4" name="act-0">
            <a:extLst xmlns:a="http://schemas.openxmlformats.org/drawingml/2006/main">
              <a:ext uri="{FF2B5EF4-FFF2-40B4-BE49-F238E27FC236}">
                <a16:creationId xmlns:a16="http://schemas.microsoft.com/office/drawing/2014/main" id="{D99F82EA-BF54-4C73-92B1-AF0A0A97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3390900" cy="2876550"/>
          </a:xfrm>
          <a:prstGeom xmlns:a="http://schemas.openxmlformats.org/drawingml/2006/main" prst="roundRect">
            <a:avLst>
              <a:gd name="adj" fmla="val 662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5" name="act-num-0">
            <a:extLst xmlns:a="http://schemas.openxmlformats.org/drawingml/2006/main">
              <a:ext uri="{FF2B5EF4-FFF2-40B4-BE49-F238E27FC236}">
                <a16:creationId xmlns:a16="http://schemas.microsoft.com/office/drawing/2014/main" id="{9BDA83F3-65A5-43A2-836B-699DB7CD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C7FF2E"/>
                </a:solidFill>
              </a:defRPr>
            </a:pPr>
            <a:r>
              <a:rPr sz="2025" b="1" i="0">
                <a:solidFill>
                  <a:srgbClr val="C7FF2E"/>
                </a:solidFill>
              </a:rPr>
              <a:t>01</a:t>
            </a:r>
          </a:p>
        </p:txBody>
      </p:sp>
      <p:sp>
        <p:nvSpPr>
          <p:cNvPr id="6" name="act-days-0">
            <a:extLst xmlns:a="http://schemas.openxmlformats.org/drawingml/2006/main">
              <a:ext uri="{FF2B5EF4-FFF2-40B4-BE49-F238E27FC236}">
                <a16:creationId xmlns:a16="http://schemas.microsoft.com/office/drawing/2014/main" id="{80B77F7D-FEFC-42CC-8D63-9D63E43E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E102B"/>
                </a:solidFill>
              </a:defRPr>
            </a:pPr>
            <a:r>
              <a:rPr sz="975" b="1" i="0">
                <a:solidFill>
                  <a:srgbClr val="6E102B"/>
                </a:solidFill>
              </a:rPr>
              <a:t>DAYS 1–30</a:t>
            </a:r>
          </a:p>
        </p:txBody>
      </p:sp>
      <p:sp>
        <p:nvSpPr>
          <p:cNvPr id="7" name="act-title-0">
            <a:extLst xmlns:a="http://schemas.openxmlformats.org/drawingml/2006/main">
              <a:ext uri="{FF2B5EF4-FFF2-40B4-BE49-F238E27FC236}">
                <a16:creationId xmlns:a16="http://schemas.microsoft.com/office/drawing/2014/main" id="{61B7F5AD-C679-4997-8425-45BD2916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243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A0A0A"/>
                </a:solidFill>
              </a:defRPr>
            </a:pPr>
            <a:r>
              <a:rPr sz="1950" b="1" i="0">
                <a:solidFill>
                  <a:srgbClr val="0A0A0A"/>
                </a:solidFill>
              </a:rPr>
              <a:t>PROVE THE ROUTE</a:t>
            </a:r>
          </a:p>
        </p:txBody>
      </p:sp>
      <p:sp>
        <p:nvSpPr>
          <p:cNvPr id="8" name="act-copy-0">
            <a:extLst xmlns:a="http://schemas.openxmlformats.org/drawingml/2006/main">
              <a:ext uri="{FF2B5EF4-FFF2-40B4-BE49-F238E27FC236}">
                <a16:creationId xmlns:a16="http://schemas.microsoft.com/office/drawing/2014/main" id="{D24C58A8-5685-44AA-930F-2E997585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2895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8B867E"/>
                </a:solidFill>
              </a:defRPr>
            </a:pPr>
            <a:r>
              <a:rPr sz="1350" b="0" i="0">
                <a:solidFill>
                  <a:srgbClr val="8B867E"/>
                </a:solidFill>
              </a:rPr>
              <a:t>Quote DDP + 3PL. Build USD contribution. Clear product and creator truth.</a:t>
            </a:r>
          </a:p>
        </p:txBody>
      </p:sp>
      <p:sp>
        <p:nvSpPr>
          <p:cNvPr id="9" name="act-1">
            <a:extLst xmlns:a="http://schemas.openxmlformats.org/drawingml/2006/main">
              <a:ext uri="{FF2B5EF4-FFF2-40B4-BE49-F238E27FC236}">
                <a16:creationId xmlns:a16="http://schemas.microsoft.com/office/drawing/2014/main" id="{3764F01F-BD5E-44B1-B64F-773C8654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3390900" cy="2876550"/>
          </a:xfrm>
          <a:prstGeom xmlns:a="http://schemas.openxmlformats.org/drawingml/2006/main" prst="roundRect">
            <a:avLst>
              <a:gd name="adj" fmla="val 6623"/>
            </a:avLst>
          </a:prstGeom>
          <a:solidFill xmlns:a="http://schemas.openxmlformats.org/drawingml/2006/main">
            <a:srgbClr val="6E1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ct-num-1">
            <a:extLst xmlns:a="http://schemas.openxmlformats.org/drawingml/2006/main">
              <a:ext uri="{FF2B5EF4-FFF2-40B4-BE49-F238E27FC236}">
                <a16:creationId xmlns:a16="http://schemas.microsoft.com/office/drawing/2014/main" id="{6151C68D-25F8-43C9-9A36-563DBDE7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051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C7FF2E"/>
                </a:solidFill>
              </a:defRPr>
            </a:pPr>
            <a:r>
              <a:rPr sz="2025" b="1" i="0">
                <a:solidFill>
                  <a:srgbClr val="C7FF2E"/>
                </a:solidFill>
              </a:rPr>
              <a:t>02</a:t>
            </a:r>
          </a:p>
        </p:txBody>
      </p:sp>
      <p:sp>
        <p:nvSpPr>
          <p:cNvPr id="11" name="act-days-1">
            <a:extLst xmlns:a="http://schemas.openxmlformats.org/drawingml/2006/main">
              <a:ext uri="{FF2B5EF4-FFF2-40B4-BE49-F238E27FC236}">
                <a16:creationId xmlns:a16="http://schemas.microsoft.com/office/drawing/2014/main" id="{E4F95B2D-9B72-4903-825C-6A08EB8A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480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7FF2E"/>
                </a:solidFill>
              </a:defRPr>
            </a:pPr>
            <a:r>
              <a:rPr sz="975" b="1" i="0">
                <a:solidFill>
                  <a:srgbClr val="C7FF2E"/>
                </a:solidFill>
              </a:rPr>
              <a:t>DAYS 31–60</a:t>
            </a:r>
          </a:p>
        </p:txBody>
      </p:sp>
      <p:sp>
        <p:nvSpPr>
          <p:cNvPr id="12" name="act-title-1">
            <a:extLst xmlns:a="http://schemas.openxmlformats.org/drawingml/2006/main">
              <a:ext uri="{FF2B5EF4-FFF2-40B4-BE49-F238E27FC236}">
                <a16:creationId xmlns:a16="http://schemas.microsoft.com/office/drawing/2014/main" id="{F33ACE84-CA9C-4FAD-8F54-95EA5E4A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243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3EDE2"/>
                </a:solidFill>
              </a:defRPr>
            </a:pPr>
            <a:r>
              <a:rPr sz="1950" b="1" i="0">
                <a:solidFill>
                  <a:srgbClr val="F3EDE2"/>
                </a:solidFill>
              </a:rPr>
              <a:t>PROVE THE STORY</a:t>
            </a:r>
          </a:p>
        </p:txBody>
      </p:sp>
      <p:sp>
        <p:nvSpPr>
          <p:cNvPr id="13" name="act-copy-1">
            <a:extLst xmlns:a="http://schemas.openxmlformats.org/drawingml/2006/main">
              <a:ext uri="{FF2B5EF4-FFF2-40B4-BE49-F238E27FC236}">
                <a16:creationId xmlns:a16="http://schemas.microsoft.com/office/drawing/2014/main" id="{33A2DB07-977F-4C4C-B6D9-A3FD70A8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33925"/>
            <a:ext cx="2895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8D2C8"/>
                </a:solidFill>
              </a:defRPr>
            </a:pPr>
            <a:r>
              <a:rPr sz="1350" b="0" i="0">
                <a:solidFill>
                  <a:srgbClr val="D8D2C8"/>
                </a:solidFill>
              </a:rPr>
              <a:t>Publish founder films. Seed governed creators. Capture metro-tagged actions.</a:t>
            </a:r>
          </a:p>
        </p:txBody>
      </p:sp>
      <p:sp>
        <p:nvSpPr>
          <p:cNvPr id="14" name="act-2">
            <a:extLst xmlns:a="http://schemas.openxmlformats.org/drawingml/2006/main">
              <a:ext uri="{FF2B5EF4-FFF2-40B4-BE49-F238E27FC236}">
                <a16:creationId xmlns:a16="http://schemas.microsoft.com/office/drawing/2014/main" id="{F79665D2-3490-4374-9B8F-765BE4C9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390900" cy="2876550"/>
          </a:xfrm>
          <a:prstGeom xmlns:a="http://schemas.openxmlformats.org/drawingml/2006/main" prst="roundRect">
            <a:avLst>
              <a:gd name="adj" fmla="val 662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5" name="act-num-2">
            <a:extLst xmlns:a="http://schemas.openxmlformats.org/drawingml/2006/main">
              <a:ext uri="{FF2B5EF4-FFF2-40B4-BE49-F238E27FC236}">
                <a16:creationId xmlns:a16="http://schemas.microsoft.com/office/drawing/2014/main" id="{303FA40C-7A8D-410F-8151-02AE04AA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051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C7FF2E"/>
                </a:solidFill>
              </a:defRPr>
            </a:pPr>
            <a:r>
              <a:rPr sz="2025" b="1" i="0">
                <a:solidFill>
                  <a:srgbClr val="C7FF2E"/>
                </a:solidFill>
              </a:rPr>
              <a:t>03</a:t>
            </a:r>
          </a:p>
        </p:txBody>
      </p:sp>
      <p:sp>
        <p:nvSpPr>
          <p:cNvPr id="16" name="act-days-2">
            <a:extLst xmlns:a="http://schemas.openxmlformats.org/drawingml/2006/main">
              <a:ext uri="{FF2B5EF4-FFF2-40B4-BE49-F238E27FC236}">
                <a16:creationId xmlns:a16="http://schemas.microsoft.com/office/drawing/2014/main" id="{DFBB335E-CFD9-488A-B25C-5C965E14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480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E102B"/>
                </a:solidFill>
              </a:defRPr>
            </a:pPr>
            <a:r>
              <a:rPr sz="975" b="1" i="0">
                <a:solidFill>
                  <a:srgbClr val="6E102B"/>
                </a:solidFill>
              </a:rPr>
              <a:t>DAYS 61–90</a:t>
            </a:r>
          </a:p>
        </p:txBody>
      </p:sp>
      <p:sp>
        <p:nvSpPr>
          <p:cNvPr id="17" name="act-title-2">
            <a:extLst xmlns:a="http://schemas.openxmlformats.org/drawingml/2006/main">
              <a:ext uri="{FF2B5EF4-FFF2-40B4-BE49-F238E27FC236}">
                <a16:creationId xmlns:a16="http://schemas.microsoft.com/office/drawing/2014/main" id="{6D834673-37EA-4FBD-9268-F4AF5AA3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243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A0A0A"/>
                </a:solidFill>
              </a:defRPr>
            </a:pPr>
            <a:r>
              <a:rPr sz="1950" b="1" i="0">
                <a:solidFill>
                  <a:srgbClr val="0A0A0A"/>
                </a:solidFill>
              </a:rPr>
              <a:t>PROVE THE ROOM</a:t>
            </a:r>
          </a:p>
        </p:txBody>
      </p:sp>
      <p:sp>
        <p:nvSpPr>
          <p:cNvPr id="18" name="act-copy-2">
            <a:extLst xmlns:a="http://schemas.openxmlformats.org/drawingml/2006/main">
              <a:ext uri="{FF2B5EF4-FFF2-40B4-BE49-F238E27FC236}">
                <a16:creationId xmlns:a16="http://schemas.microsoft.com/office/drawing/2014/main" id="{233237A6-541E-44C9-A86C-E19904A6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33925"/>
            <a:ext cx="2895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8B867E"/>
                </a:solidFill>
              </a:defRPr>
            </a:pPr>
            <a:r>
              <a:rPr sz="1350" b="0" i="0">
                <a:solidFill>
                  <a:srgbClr val="8B867E"/>
                </a:solidFill>
              </a:rPr>
              <a:t>Select one pop-up only if demand, venue economics and hard gates clear.</a:t>
            </a:r>
          </a:p>
        </p:txBody>
      </p:sp>
      <p:sp>
        <p:nvSpPr>
          <p:cNvPr id="19" name="footer-section-10">
            <a:extLst xmlns:a="http://schemas.openxmlformats.org/drawingml/2006/main">
              <a:ext uri="{FF2B5EF4-FFF2-40B4-BE49-F238E27FC236}">
                <a16:creationId xmlns:a16="http://schemas.microsoft.com/office/drawing/2014/main" id="{6B52F006-98F9-4F45-99B1-402277CE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B867E"/>
                </a:solidFill>
              </a:defRPr>
            </a:pPr>
            <a:r>
              <a:rPr sz="750" b="1" i="0">
                <a:solidFill>
                  <a:srgbClr val="8B867E"/>
                </a:solidFill>
              </a:rPr>
              <a:t>EXECUTION SEQUENCE</a:t>
            </a:r>
          </a:p>
        </p:txBody>
      </p:sp>
      <p:sp>
        <p:nvSpPr>
          <p:cNvPr id="20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D29B7B33-6EE7-4C09-A7D2-D93C2CF3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8B867E"/>
                </a:solidFill>
              </a:defRPr>
            </a:pPr>
            <a:r>
              <a:rPr sz="750" b="1" i="0">
                <a:solidFill>
                  <a:srgbClr val="8B867E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65767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The prediction engine">
            <a:extLst xmlns:a="http://schemas.openxmlformats.org/drawingml/2006/main">
              <a:ext uri="{FF2B5EF4-FFF2-40B4-BE49-F238E27FC236}">
                <a16:creationId xmlns:a16="http://schemas.microsoft.com/office/drawing/2014/main" id="{B5D6EF48-35FB-43CC-91F9-C42A68A5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E102B"/>
                </a:solidFill>
              </a:defRPr>
            </a:pPr>
            <a:r>
              <a:rPr sz="975" b="1" i="0">
                <a:solidFill>
                  <a:srgbClr val="6E102B"/>
                </a:solidFill>
              </a:rPr>
              <a:t>THE PREDICTION ENGINE</a:t>
            </a:r>
          </a:p>
        </p:txBody>
      </p:sp>
      <p:sp>
        <p:nvSpPr>
          <p:cNvPr id="2" name="title-Receipts do not prove us right.&#10;They help us change faster.">
            <a:extLst xmlns:a="http://schemas.openxmlformats.org/drawingml/2006/main">
              <a:ext uri="{FF2B5EF4-FFF2-40B4-BE49-F238E27FC236}">
                <a16:creationId xmlns:a16="http://schemas.microsoft.com/office/drawing/2014/main" id="{F1C719A4-44E5-4D0E-A651-D2D8C065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A0A0A"/>
                </a:solidFill>
              </a:defRPr>
            </a:pPr>
            <a:r>
              <a:rPr sz="3600" b="1" i="0">
                <a:solidFill>
                  <a:srgbClr val="0A0A0A"/>
                </a:solidFill>
              </a:rPr>
              <a:t>Receipts do not prove us right.</a:t>
            </a:r>
          </a:p>
          <a:p xmlns:a="http://schemas.openxmlformats.org/drawingml/2006/main">
            <a:pPr algn="l">
              <a:defRPr sz="3600" b="1" i="0">
                <a:solidFill>
                  <a:srgbClr val="0A0A0A"/>
                </a:solidFill>
              </a:defRPr>
            </a:pPr>
            <a:r>
              <a:rPr sz="3600" b="1" i="0">
                <a:solidFill>
                  <a:srgbClr val="0A0A0A"/>
                </a:solidFill>
              </a:rPr>
              <a:t>They help us change faster.</a:t>
            </a:r>
          </a:p>
        </p:txBody>
      </p:sp>
      <p:sp>
        <p:nvSpPr>
          <p:cNvPr id="3" name="subtitle-Receipts do not prove us right.&#10;They help us change faster.">
            <a:extLst xmlns:a="http://schemas.openxmlformats.org/drawingml/2006/main">
              <a:ext uri="{FF2B5EF4-FFF2-40B4-BE49-F238E27FC236}">
                <a16:creationId xmlns:a16="http://schemas.microsoft.com/office/drawing/2014/main" id="{F6036849-F171-4F25-9A06-6BA3A210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8B867E"/>
                </a:solidFill>
              </a:defRPr>
            </a:pPr>
            <a:r>
              <a:rPr sz="1500" b="0" i="0">
                <a:solidFill>
                  <a:srgbClr val="8B867E"/>
                </a:solidFill>
              </a:rPr>
              <a:t>Every receipt can increase or decrease a candidate score, while the original forecast remains visible.</a:t>
            </a:r>
          </a:p>
        </p:txBody>
      </p:sp>
      <p:sp>
        <p:nvSpPr>
          <p:cNvPr id="4" name="receipt-marker-0">
            <a:extLst xmlns:a="http://schemas.openxmlformats.org/drawingml/2006/main">
              <a:ext uri="{FF2B5EF4-FFF2-40B4-BE49-F238E27FC236}">
                <a16:creationId xmlns:a16="http://schemas.microsoft.com/office/drawing/2014/main" id="{EB514934-98FB-439F-9852-A905B7FE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eipt-mark-0">
            <a:extLst xmlns:a="http://schemas.openxmlformats.org/drawingml/2006/main">
              <a:ext uri="{FF2B5EF4-FFF2-40B4-BE49-F238E27FC236}">
                <a16:creationId xmlns:a16="http://schemas.microsoft.com/office/drawing/2014/main" id="{3B96C994-B324-495C-9B8E-66A62765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A0A0A"/>
                </a:solidFill>
              </a:defRPr>
            </a:pPr>
            <a:r>
              <a:rPr sz="1350" b="1" i="0">
                <a:solidFill>
                  <a:srgbClr val="0A0A0A"/>
                </a:solidFill>
              </a:rPr>
              <a:t>GO</a:t>
            </a:r>
          </a:p>
        </p:txBody>
      </p:sp>
      <p:sp>
        <p:nvSpPr>
          <p:cNvPr id="6" name="receipt-title-0">
            <a:extLst xmlns:a="http://schemas.openxmlformats.org/drawingml/2006/main">
              <a:ext uri="{FF2B5EF4-FFF2-40B4-BE49-F238E27FC236}">
                <a16:creationId xmlns:a16="http://schemas.microsoft.com/office/drawing/2014/main" id="{7CC029C5-0510-46E3-9670-66290D80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14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0A0A"/>
                </a:solidFill>
              </a:defRPr>
            </a:pPr>
            <a:r>
              <a:rPr sz="1275" b="1" i="0">
                <a:solidFill>
                  <a:srgbClr val="0A0A0A"/>
                </a:solidFill>
              </a:rPr>
              <a:t>KEEP BROOKLYN</a:t>
            </a:r>
          </a:p>
        </p:txBody>
      </p:sp>
      <p:sp>
        <p:nvSpPr>
          <p:cNvPr id="7" name="receipt-copy-0">
            <a:extLst xmlns:a="http://schemas.openxmlformats.org/drawingml/2006/main">
              <a:ext uri="{FF2B5EF4-FFF2-40B4-BE49-F238E27FC236}">
                <a16:creationId xmlns:a16="http://schemas.microsoft.com/office/drawing/2014/main" id="{1B46E808-6EF5-496C-8E6B-83037C14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2897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8B867E"/>
                </a:solidFill>
              </a:defRPr>
            </a:pPr>
            <a:r>
              <a:rPr sz="1350" b="0" i="0">
                <a:solidFill>
                  <a:srgbClr val="8B867E"/>
                </a:solidFill>
              </a:rPr>
              <a:t>Metro-tagged qualified actions lead; contribution survives fulfilment; product truth performs.</a:t>
            </a:r>
          </a:p>
        </p:txBody>
      </p:sp>
      <p:sp>
        <p:nvSpPr>
          <p:cNvPr id="8" name="rule-164-391">
            <a:extLst xmlns:a="http://schemas.openxmlformats.org/drawingml/2006/main">
              <a:ext uri="{FF2B5EF4-FFF2-40B4-BE49-F238E27FC236}">
                <a16:creationId xmlns:a16="http://schemas.microsoft.com/office/drawing/2014/main" id="{8E4EF0E5-79E6-4CC9-9926-6AC1EF1D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24275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eipt-marker-1">
            <a:extLst xmlns:a="http://schemas.openxmlformats.org/drawingml/2006/main">
              <a:ext uri="{FF2B5EF4-FFF2-40B4-BE49-F238E27FC236}">
                <a16:creationId xmlns:a16="http://schemas.microsoft.com/office/drawing/2014/main" id="{2BA93964-8B96-4F86-BD3F-2A0E6F5D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385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eipt-mark-1">
            <a:extLst xmlns:a="http://schemas.openxmlformats.org/drawingml/2006/main">
              <a:ext uri="{FF2B5EF4-FFF2-40B4-BE49-F238E27FC236}">
                <a16:creationId xmlns:a16="http://schemas.microsoft.com/office/drawing/2014/main" id="{751D5F3E-902A-4C0A-BB20-1BB7894E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3EDE2"/>
                </a:solidFill>
              </a:defRPr>
            </a:pPr>
            <a:r>
              <a:rPr sz="2100" b="1" i="0">
                <a:solidFill>
                  <a:srgbClr val="F3EDE2"/>
                </a:solidFill>
              </a:rPr>
              <a:t>↻</a:t>
            </a:r>
          </a:p>
        </p:txBody>
      </p:sp>
      <p:sp>
        <p:nvSpPr>
          <p:cNvPr id="11" name="receipt-title-1">
            <a:extLst xmlns:a="http://schemas.openxmlformats.org/drawingml/2006/main">
              <a:ext uri="{FF2B5EF4-FFF2-40B4-BE49-F238E27FC236}">
                <a16:creationId xmlns:a16="http://schemas.microsoft.com/office/drawing/2014/main" id="{CF5DA93E-6D29-4EC6-943A-5E5F00D1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0A0A"/>
                </a:solidFill>
              </a:defRPr>
            </a:pPr>
            <a:r>
              <a:rPr sz="1275" b="1" i="0">
                <a:solidFill>
                  <a:srgbClr val="0A0A0A"/>
                </a:solidFill>
              </a:rPr>
              <a:t>SWITCH CITY</a:t>
            </a:r>
          </a:p>
        </p:txBody>
      </p:sp>
      <p:sp>
        <p:nvSpPr>
          <p:cNvPr id="12" name="receipt-copy-1">
            <a:extLst xmlns:a="http://schemas.openxmlformats.org/drawingml/2006/main">
              <a:ext uri="{FF2B5EF4-FFF2-40B4-BE49-F238E27FC236}">
                <a16:creationId xmlns:a16="http://schemas.microsoft.com/office/drawing/2014/main" id="{61DD7747-1CDD-4253-96AF-1D4DECB3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6242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8B867E"/>
                </a:solidFill>
              </a:defRPr>
            </a:pPr>
            <a:r>
              <a:rPr sz="1350" b="0" i="0">
                <a:solidFill>
                  <a:srgbClr val="8B867E"/>
                </a:solidFill>
              </a:rPr>
              <a:t>Chicago, LA or Atlanta produces materially stronger qualified actions under the same test.</a:t>
            </a:r>
          </a:p>
        </p:txBody>
      </p:sp>
      <p:sp>
        <p:nvSpPr>
          <p:cNvPr id="13" name="rule-164-489">
            <a:extLst xmlns:a="http://schemas.openxmlformats.org/drawingml/2006/main">
              <a:ext uri="{FF2B5EF4-FFF2-40B4-BE49-F238E27FC236}">
                <a16:creationId xmlns:a16="http://schemas.microsoft.com/office/drawing/2014/main" id="{4B62F09D-6799-4389-A685-33DBF5E0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57725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eipt-marker-2">
            <a:extLst xmlns:a="http://schemas.openxmlformats.org/drawingml/2006/main">
              <a:ext uri="{FF2B5EF4-FFF2-40B4-BE49-F238E27FC236}">
                <a16:creationId xmlns:a16="http://schemas.microsoft.com/office/drawing/2014/main" id="{0F8705FB-AF77-43CF-8FD3-BE104F6B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720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3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eipt-mark-2">
            <a:extLst xmlns:a="http://schemas.openxmlformats.org/drawingml/2006/main">
              <a:ext uri="{FF2B5EF4-FFF2-40B4-BE49-F238E27FC236}">
                <a16:creationId xmlns:a16="http://schemas.microsoft.com/office/drawing/2014/main" id="{5CEC1CD1-6A7B-4CF0-89D6-8E27E063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434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3EDE2"/>
                </a:solidFill>
              </a:defRPr>
            </a:pPr>
            <a:r>
              <a:rPr sz="2100" b="1" i="0">
                <a:solidFill>
                  <a:srgbClr val="F3EDE2"/>
                </a:solidFill>
              </a:rPr>
              <a:t>×</a:t>
            </a:r>
          </a:p>
        </p:txBody>
      </p:sp>
      <p:sp>
        <p:nvSpPr>
          <p:cNvPr id="16" name="receipt-title-2">
            <a:extLst xmlns:a="http://schemas.openxmlformats.org/drawingml/2006/main">
              <a:ext uri="{FF2B5EF4-FFF2-40B4-BE49-F238E27FC236}">
                <a16:creationId xmlns:a16="http://schemas.microsoft.com/office/drawing/2014/main" id="{C703748A-625B-4E96-A2F9-AA1295E9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81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43346"/>
                </a:solidFill>
              </a:defRPr>
            </a:pPr>
            <a:r>
              <a:rPr sz="1275" b="1" i="0">
                <a:solidFill>
                  <a:srgbClr val="C43346"/>
                </a:solidFill>
              </a:rPr>
              <a:t>STOP THE ROUTE</a:t>
            </a:r>
          </a:p>
        </p:txBody>
      </p:sp>
      <p:sp>
        <p:nvSpPr>
          <p:cNvPr id="17" name="receipt-copy-2">
            <a:extLst xmlns:a="http://schemas.openxmlformats.org/drawingml/2006/main">
              <a:ext uri="{FF2B5EF4-FFF2-40B4-BE49-F238E27FC236}">
                <a16:creationId xmlns:a16="http://schemas.microsoft.com/office/drawing/2014/main" id="{273F8CDF-BA2B-4295-8592-261011E0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9587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8B867E"/>
                </a:solidFill>
              </a:defRPr>
            </a:pPr>
            <a:r>
              <a:rPr sz="1350" b="0" i="0">
                <a:solidFill>
                  <a:srgbClr val="8B867E"/>
                </a:solidFill>
              </a:rPr>
              <a:t>Duties, returns or fulfilment destroy contribution; compliance cannot clear; sample truth fails.</a:t>
            </a:r>
          </a:p>
        </p:txBody>
      </p:sp>
      <p:sp>
        <p:nvSpPr>
          <p:cNvPr id="18" name="rule-164-587">
            <a:extLst xmlns:a="http://schemas.openxmlformats.org/drawingml/2006/main">
              <a:ext uri="{FF2B5EF4-FFF2-40B4-BE49-F238E27FC236}">
                <a16:creationId xmlns:a16="http://schemas.microsoft.com/office/drawing/2014/main" id="{47A5E071-F251-4F45-AC13-CA0E5C5C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91175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eipt-band">
            <a:extLst xmlns:a="http://schemas.openxmlformats.org/drawingml/2006/main">
              <a:ext uri="{FF2B5EF4-FFF2-40B4-BE49-F238E27FC236}">
                <a16:creationId xmlns:a16="http://schemas.microsoft.com/office/drawing/2014/main" id="{02F110B6-C89A-4049-9876-55980A63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09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ceipt-band-copy">
            <a:extLst xmlns:a="http://schemas.openxmlformats.org/drawingml/2006/main">
              <a:ext uri="{FF2B5EF4-FFF2-40B4-BE49-F238E27FC236}">
                <a16:creationId xmlns:a16="http://schemas.microsoft.com/office/drawing/2014/main" id="{1BDBF8BE-415F-4CA7-923A-1C1EB0EB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10275"/>
            <a:ext cx="969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EDE2"/>
                </a:solidFill>
              </a:defRPr>
            </a:pPr>
            <a:r>
              <a:rPr sz="900" b="1" i="0">
                <a:solidFill>
                  <a:srgbClr val="F3EDE2"/>
                </a:solidFill>
              </a:rPr>
              <a:t>FORECAST-ONLY REMAINS VISIBLE · RECALIBRATED IS A SEPARATE STATE · NEGATIVE EVIDENCE COUNTS</a:t>
            </a:r>
          </a:p>
        </p:txBody>
      </p:sp>
      <p:sp>
        <p:nvSpPr>
          <p:cNvPr id="21" name="footer-section-11">
            <a:extLst xmlns:a="http://schemas.openxmlformats.org/drawingml/2006/main">
              <a:ext uri="{FF2B5EF4-FFF2-40B4-BE49-F238E27FC236}">
                <a16:creationId xmlns:a16="http://schemas.microsoft.com/office/drawing/2014/main" id="{3680F6CF-5643-475A-9DEF-71D87802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B867E"/>
                </a:solidFill>
              </a:defRPr>
            </a:pPr>
            <a:r>
              <a:rPr sz="750" b="1" i="0">
                <a:solidFill>
                  <a:srgbClr val="8B867E"/>
                </a:solidFill>
              </a:rPr>
              <a:t>LEARNING SYSTEM</a:t>
            </a:r>
          </a:p>
        </p:txBody>
      </p:sp>
      <p:sp>
        <p:nvSpPr>
          <p:cNvPr id="22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CFF2CD7E-B96E-451A-8240-41F11B76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8B867E"/>
                </a:solidFill>
              </a:defRPr>
            </a:pPr>
            <a:r>
              <a:rPr sz="750" b="1" i="0">
                <a:solidFill>
                  <a:srgbClr val="8B867E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07118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9d88194e74faa"/>
          <a:srcRect xmlns:a="http://schemas.openxmlformats.org/drawingml/2006/main" l="0" t="909" r="0" b="9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lose-wash">
            <a:extLst xmlns:a="http://schemas.openxmlformats.org/drawingml/2006/main">
              <a:ext uri="{FF2B5EF4-FFF2-40B4-BE49-F238E27FC236}">
                <a16:creationId xmlns:a16="http://schemas.microsoft.com/office/drawing/2014/main" id="{E6F6FC1D-7D85-4306-A312-B47C0782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0"/>
            <a:ext cx="1428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label-bg-founder decision">
            <a:extLst xmlns:a="http://schemas.openxmlformats.org/drawingml/2006/main">
              <a:ext uri="{FF2B5EF4-FFF2-40B4-BE49-F238E27FC236}">
                <a16:creationId xmlns:a16="http://schemas.microsoft.com/office/drawing/2014/main" id="{4011BC79-509C-4BE3-B3BB-E1BB1CED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5811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bel-founder decision">
            <a:extLst xmlns:a="http://schemas.openxmlformats.org/drawingml/2006/main">
              <a:ext uri="{FF2B5EF4-FFF2-40B4-BE49-F238E27FC236}">
                <a16:creationId xmlns:a16="http://schemas.microsoft.com/office/drawing/2014/main" id="{A6F8DD50-9DD9-4537-9AF7-F698A1FB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1912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A0A0A"/>
                </a:solidFill>
              </a:defRPr>
            </a:pPr>
            <a:r>
              <a:rPr sz="900" b="1" i="0">
                <a:solidFill>
                  <a:srgbClr val="0A0A0A"/>
                </a:solidFill>
              </a:rPr>
              <a:t>FOUNDER DECISION</a:t>
            </a:r>
          </a:p>
        </p:txBody>
      </p:sp>
      <p:sp>
        <p:nvSpPr>
          <p:cNvPr id="5" name="close-title">
            <a:extLst xmlns:a="http://schemas.openxmlformats.org/drawingml/2006/main">
              <a:ext uri="{FF2B5EF4-FFF2-40B4-BE49-F238E27FC236}">
                <a16:creationId xmlns:a16="http://schemas.microsoft.com/office/drawing/2014/main" id="{C24822B5-8808-4B2D-AA79-0830C5A0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57150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3EDE2"/>
                </a:solidFill>
              </a:defRPr>
            </a:pPr>
            <a:r>
              <a:rPr sz="4050" b="1" i="0">
                <a:solidFill>
                  <a:srgbClr val="F3EDE2"/>
                </a:solidFill>
              </a:rPr>
              <a:t>BET SMALL.</a:t>
            </a:r>
          </a:p>
          <a:p xmlns:a="http://schemas.openxmlformats.org/drawingml/2006/main">
            <a:pPr algn="l">
              <a:defRPr sz="4050" b="1" i="0">
                <a:solidFill>
                  <a:srgbClr val="F3EDE2"/>
                </a:solidFill>
              </a:defRPr>
            </a:pPr>
            <a:r>
              <a:rPr sz="4050" b="1" i="0">
                <a:solidFill>
                  <a:srgbClr val="F3EDE2"/>
                </a:solidFill>
              </a:rPr>
              <a:t>LEARN FAST.</a:t>
            </a:r>
          </a:p>
          <a:p xmlns:a="http://schemas.openxmlformats.org/drawingml/2006/main">
            <a:pPr algn="l">
              <a:defRPr sz="4050" b="1" i="0">
                <a:solidFill>
                  <a:srgbClr val="F3EDE2"/>
                </a:solidFill>
              </a:defRPr>
            </a:pPr>
            <a:r>
              <a:rPr sz="4050" b="1" i="0">
                <a:solidFill>
                  <a:srgbClr val="F3EDE2"/>
                </a:solidFill>
              </a:rPr>
              <a:t>KEEP THE TRUTH.</a:t>
            </a:r>
          </a:p>
        </p:txBody>
      </p:sp>
      <p:sp>
        <p:nvSpPr>
          <p:cNvPr id="6" name="close-command">
            <a:extLst xmlns:a="http://schemas.openxmlformats.org/drawingml/2006/main">
              <a:ext uri="{FF2B5EF4-FFF2-40B4-BE49-F238E27FC236}">
                <a16:creationId xmlns:a16="http://schemas.microsoft.com/office/drawing/2014/main" id="{2C9BD40F-0DA6-48EB-A547-F0635575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5429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8D2C8"/>
                </a:solidFill>
              </a:defRPr>
            </a:pPr>
            <a:r>
              <a:rPr sz="1650" b="0" i="0">
                <a:solidFill>
                  <a:srgbClr val="D8D2C8"/>
                </a:solidFill>
              </a:rPr>
              <a:t>Start with a Brooklyn-led national content test. Build the named circle. Let verified capacity control scarcity. Do not book the pop-up or scale inventory until the twelve locks clear.</a:t>
            </a:r>
          </a:p>
        </p:txBody>
      </p:sp>
      <p:sp>
        <p:nvSpPr>
          <p:cNvPr id="7" name="rule-66-603">
            <a:extLst xmlns:a="http://schemas.openxmlformats.org/drawingml/2006/main">
              <a:ext uri="{FF2B5EF4-FFF2-40B4-BE49-F238E27FC236}">
                <a16:creationId xmlns:a16="http://schemas.microsoft.com/office/drawing/2014/main" id="{90683852-ACDA-4CEA-81A7-CCE410B8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ose-final">
            <a:extLst xmlns:a="http://schemas.openxmlformats.org/drawingml/2006/main">
              <a:ext uri="{FF2B5EF4-FFF2-40B4-BE49-F238E27FC236}">
                <a16:creationId xmlns:a16="http://schemas.microsoft.com/office/drawing/2014/main" id="{0094130C-28B9-495A-8C00-FE275C85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007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3EDE2"/>
                </a:solidFill>
              </a:defRPr>
            </a:pPr>
            <a:r>
              <a:rPr sz="975" b="1" i="0">
                <a:solidFill>
                  <a:srgbClr val="F3EDE2"/>
                </a:solidFill>
              </a:rPr>
              <a:t>WINNER = FIRST MOVE · RECEIPTS CHOOSE THE NEXT MOVE</a:t>
            </a:r>
          </a:p>
        </p:txBody>
      </p:sp>
      <p:sp>
        <p:nvSpPr>
          <p:cNvPr id="9" name="footer-section-12">
            <a:extLst xmlns:a="http://schemas.openxmlformats.org/drawingml/2006/main">
              <a:ext uri="{FF2B5EF4-FFF2-40B4-BE49-F238E27FC236}">
                <a16:creationId xmlns:a16="http://schemas.microsoft.com/office/drawing/2014/main" id="{984C3194-95C9-4631-BE3B-A773F964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3EDE2"/>
                </a:solidFill>
              </a:defRPr>
            </a:pPr>
            <a:r>
              <a:rPr sz="750" b="1" i="0">
                <a:solidFill>
                  <a:srgbClr val="F3EDE2"/>
                </a:solidFill>
              </a:rPr>
              <a:t>FINAL RECOMMENDATION</a:t>
            </a:r>
          </a:p>
        </p:txBody>
      </p:sp>
      <p:sp>
        <p:nvSpPr>
          <p:cNvPr id="10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E511E95B-6376-4753-AFD8-52C20FD1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F3EDE2"/>
                </a:solidFill>
              </a:defRPr>
            </a:pPr>
            <a:r>
              <a:rPr sz="750" b="1" i="0">
                <a:solidFill>
                  <a:srgbClr val="F3EDE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12952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2026-08-22T22:56:43.8000000Z</dcterms:created>
  <dcterms:modified xsi:type="dcterms:W3CDTF">2026-08-22T22:56:43.8000000Z</dcterms:modified>
</coreProperties>
</file>